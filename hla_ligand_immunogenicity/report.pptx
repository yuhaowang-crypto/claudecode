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article is a public stand-in (PDB 9DC3) so the whole pipeline is reproducible. Proprietary ligands drop in as de-identified FASTA and every module runs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measured negative result in this pipeline. Requiring N molecules or ranking on population coverage would trade sensitivity for nothing: breadth &gt;= 2 at %Rank &lt; 1 raises specificity to 0.79 but drops sensitivity to 0.28, and MCC barely moves. The multi-allele stratum is 84% positive, so its result is a small-sample signal that breadth is not adding information even where it is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2E"/>
        </a:solidFill>
      </p:bgPr>
    </p:bg>
    <p:spTree>
      <p:nvGrpSpPr>
        <p:cNvPr id="1" name=""/>
        <p:cNvGrpSpPr/>
        <p:nvPr/>
      </p:nvGrpSpPr>
      <p:grpSpPr>
        <a:xfrm>
          <a:off x="0" y="0"/>
          <a:ext cx="0" cy="0"/>
          <a:chOff x="0" y="0"/>
          <a:chExt cx="0" cy="0"/>
        </a:xfrm>
      </p:grpSpPr>
      <p:sp>
        <p:nvSpPr>
          <p:cNvPr id="2" name="Text 0"/>
          <p:cNvSpPr/>
          <p:nvPr/>
        </p:nvSpPr>
        <p:spPr>
          <a:xfrm>
            <a:off x="566928" y="2057400"/>
            <a:ext cx="11027664" cy="14173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HLA-DR immunogenicity of an AAV affinity ligand</a:t>
            </a:r>
            <a:endParaRPr lang="en-US" sz="4000" dirty="0"/>
          </a:p>
        </p:txBody>
      </p:sp>
      <p:sp>
        <p:nvSpPr>
          <p:cNvPr id="3" name="Text 1"/>
          <p:cNvSpPr/>
          <p:nvPr/>
        </p:nvSpPr>
        <p:spPr>
          <a:xfrm>
            <a:off x="566928" y="3520440"/>
            <a:ext cx="9656064" cy="1234440"/>
          </a:xfrm>
          <a:prstGeom prst="rect">
            <a:avLst/>
          </a:prstGeom>
          <a:noFill/>
          <a:ln/>
        </p:spPr>
        <p:txBody>
          <a:bodyPr wrap="square" lIns="0" tIns="0" rIns="0" bIns="0" rtlCol="0" anchor="ctr"/>
          <a:lstStyle/>
          <a:p>
            <a:pPr indent="0" marL="0">
              <a:lnSpc>
                <a:spcPts val="2200"/>
              </a:lnSpc>
              <a:buNone/>
            </a:pPr>
            <a:r>
              <a:rPr lang="en-US" sz="1500" dirty="0">
                <a:solidFill>
                  <a:srgbClr val="AEC2D4"/>
                </a:solidFill>
                <a:latin typeface="Calibri" pitchFamily="34" charset="0"/>
                <a:ea typeface="Calibri" pitchFamily="34" charset="-122"/>
                <a:cs typeface="Calibri" pitchFamily="34" charset="-120"/>
              </a:rPr>
              <a:t>AAVX_VHH · 126 aa camelid VHH · PDB 9DC3 entity 2</a:t>
            </a:r>
            <a:endParaRPr lang="en-US" sz="1500" dirty="0"/>
          </a:p>
          <a:p>
            <a:pPr indent="0" marL="0">
              <a:lnSpc>
                <a:spcPts val="2200"/>
              </a:lnSpc>
              <a:buNone/>
            </a:pPr>
            <a:r>
              <a:rPr lang="en-US" sz="1500" dirty="0">
                <a:solidFill>
                  <a:srgbClr val="AEC2D4"/>
                </a:solidFill>
                <a:latin typeface="Calibri" pitchFamily="34" charset="0"/>
                <a:ea typeface="Calibri" pitchFamily="34" charset="-122"/>
                <a:cs typeface="Calibri" pitchFamily="34" charset="-120"/>
              </a:rPr>
              <a:t>25-molecule HLA-DR panel · 97.3% weighted US/EU coverage · benchmarked against 13 comparators and controls</a:t>
            </a:r>
            <a:endParaRPr lang="en-US" sz="1500" dirty="0"/>
          </a:p>
        </p:txBody>
      </p:sp>
      <p:sp>
        <p:nvSpPr>
          <p:cNvPr id="4" name="Text 2"/>
          <p:cNvSpPr/>
          <p:nvPr/>
        </p:nvSpPr>
        <p:spPr>
          <a:xfrm>
            <a:off x="566928" y="1600200"/>
            <a:ext cx="11027664" cy="274320"/>
          </a:xfrm>
          <a:prstGeom prst="rect">
            <a:avLst/>
          </a:prstGeom>
          <a:noFill/>
          <a:ln/>
        </p:spPr>
        <p:txBody>
          <a:bodyPr wrap="square" lIns="0" tIns="0" rIns="0" bIns="0" rtlCol="0" anchor="ctr"/>
          <a:lstStyle/>
          <a:p>
            <a:pPr indent="0" marL="0">
              <a:buNone/>
            </a:pPr>
            <a:r>
              <a:rPr lang="en-US" sz="1100" b="1" spc="220" kern="0" dirty="0">
                <a:solidFill>
                  <a:srgbClr val="7FA8C9"/>
                </a:solidFill>
                <a:latin typeface="Calibri" pitchFamily="34" charset="0"/>
                <a:ea typeface="Calibri" pitchFamily="34" charset="-122"/>
                <a:cs typeface="Calibri" pitchFamily="34" charset="-120"/>
              </a:rPr>
              <a:t>PROCESS-RELATED IMPURITY  ·  RESEARCH USE ONLY</a:t>
            </a:r>
            <a:endParaRPr lang="en-US" sz="1100" dirty="0"/>
          </a:p>
        </p:txBody>
      </p:sp>
      <p:sp>
        <p:nvSpPr>
          <p:cNvPr id="5" name="Text 3"/>
          <p:cNvSpPr/>
          <p:nvPr/>
        </p:nvSpPr>
        <p:spPr>
          <a:xfrm>
            <a:off x="566928" y="5943600"/>
            <a:ext cx="11027664" cy="365760"/>
          </a:xfrm>
          <a:prstGeom prst="rect">
            <a:avLst/>
          </a:prstGeom>
          <a:noFill/>
          <a:ln/>
        </p:spPr>
        <p:txBody>
          <a:bodyPr wrap="square" lIns="0" tIns="0" rIns="0" bIns="0" rtlCol="0" anchor="ctr"/>
          <a:lstStyle/>
          <a:p>
            <a:pPr indent="0" marL="0">
              <a:buNone/>
            </a:pPr>
            <a:r>
              <a:rPr lang="en-US" sz="1050" dirty="0">
                <a:solidFill>
                  <a:srgbClr val="6E8AA3"/>
                </a:solidFill>
                <a:latin typeface="Calibri" pitchFamily="34" charset="0"/>
                <a:ea typeface="Calibri" pitchFamily="34" charset="-122"/>
                <a:cs typeface="Calibri" pitchFamily="34" charset="-120"/>
              </a:rPr>
              <a:t>NetMHCIIpan EL + BA  ·  human-self tolerance filter  ·  population-weighted scoring  ·  BepiPred-2.0  ·  exposure banding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VERDICT</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Executive summary</a:t>
            </a:r>
            <a:endParaRPr lang="en-US" sz="2700" dirty="0"/>
          </a:p>
        </p:txBody>
      </p:sp>
      <p:sp>
        <p:nvSpPr>
          <p:cNvPr id="4" name="Shape 2"/>
          <p:cNvSpPr/>
          <p:nvPr/>
        </p:nvSpPr>
        <p:spPr>
          <a:xfrm>
            <a:off x="566928" y="1207008"/>
            <a:ext cx="2606040" cy="1298448"/>
          </a:xfrm>
          <a:prstGeom prst="roundRect">
            <a:avLst>
              <a:gd name="adj" fmla="val 4225"/>
            </a:avLst>
          </a:prstGeom>
          <a:solidFill>
            <a:srgbClr val="F2F6F9"/>
          </a:solidFill>
          <a:ln w="9525">
            <a:solidFill>
              <a:srgbClr val="DCE4EC"/>
            </a:solidFill>
            <a:prstDash val="solid"/>
          </a:ln>
        </p:spPr>
      </p:sp>
      <p:sp>
        <p:nvSpPr>
          <p:cNvPr id="5" name="Text 3"/>
          <p:cNvSpPr/>
          <p:nvPr/>
        </p:nvSpPr>
        <p:spPr>
          <a:xfrm>
            <a:off x="713232" y="1298448"/>
            <a:ext cx="2313432" cy="457200"/>
          </a:xfrm>
          <a:prstGeom prst="rect">
            <a:avLst/>
          </a:prstGeom>
          <a:noFill/>
          <a:ln/>
        </p:spPr>
        <p:txBody>
          <a:bodyPr wrap="square" lIns="0" tIns="0" rIns="0" bIns="0" rtlCol="0" anchor="ctr"/>
          <a:lstStyle/>
          <a:p>
            <a:pPr indent="0" marL="0">
              <a:buNone/>
            </a:pPr>
            <a:r>
              <a:rPr lang="en-US" sz="2600" b="1" dirty="0">
                <a:solidFill>
                  <a:srgbClr val="C9752B"/>
                </a:solidFill>
                <a:latin typeface="Cambria" pitchFamily="34" charset="0"/>
                <a:ea typeface="Cambria" pitchFamily="34" charset="-122"/>
                <a:cs typeface="Cambria" pitchFamily="34" charset="-120"/>
              </a:rPr>
              <a:t>1.1×</a:t>
            </a:r>
            <a:endParaRPr lang="en-US" sz="2600" dirty="0"/>
          </a:p>
        </p:txBody>
      </p:sp>
      <p:sp>
        <p:nvSpPr>
          <p:cNvPr id="6" name="Text 4"/>
          <p:cNvSpPr/>
          <p:nvPr/>
        </p:nvSpPr>
        <p:spPr>
          <a:xfrm>
            <a:off x="713232" y="1755648"/>
            <a:ext cx="2313432" cy="219456"/>
          </a:xfrm>
          <a:prstGeom prst="rect">
            <a:avLst/>
          </a:prstGeom>
          <a:noFill/>
          <a:ln/>
        </p:spPr>
        <p:txBody>
          <a:bodyPr wrap="square" lIns="0" tIns="0" rIns="0" bIns="0" rtlCol="0" anchor="ctr"/>
          <a:lstStyle/>
          <a:p>
            <a:pPr indent="0" marL="0">
              <a:buNone/>
            </a:pPr>
            <a:r>
              <a:rPr lang="en-US" sz="850" b="1" spc="90" kern="0" dirty="0">
                <a:solidFill>
                  <a:srgbClr val="63748A"/>
                </a:solidFill>
                <a:latin typeface="Calibri" pitchFamily="34" charset="0"/>
                <a:ea typeface="Calibri" pitchFamily="34" charset="-122"/>
                <a:cs typeface="Calibri" pitchFamily="34" charset="-120"/>
              </a:rPr>
              <a:t>VS PROTEIN A Z-DOMAIN</a:t>
            </a:r>
            <a:endParaRPr lang="en-US" sz="850" dirty="0"/>
          </a:p>
        </p:txBody>
      </p:sp>
      <p:sp>
        <p:nvSpPr>
          <p:cNvPr id="7" name="Text 5"/>
          <p:cNvSpPr/>
          <p:nvPr/>
        </p:nvSpPr>
        <p:spPr>
          <a:xfrm>
            <a:off x="713232" y="1984248"/>
            <a:ext cx="2313432" cy="457200"/>
          </a:xfrm>
          <a:prstGeom prst="rect">
            <a:avLst/>
          </a:prstGeom>
          <a:noFill/>
          <a:ln/>
        </p:spPr>
        <p:txBody>
          <a:bodyPr wrap="square" lIns="0" tIns="0" rIns="0" bIns="0" rtlCol="0" anchor="ctr"/>
          <a:lstStyle/>
          <a:p>
            <a:pPr indent="0" marL="0">
              <a:lnSpc>
                <a:spcPts val="1200"/>
              </a:lnSpc>
              <a:buNone/>
            </a:pPr>
            <a:r>
              <a:rPr lang="en-US" sz="950" dirty="0">
                <a:solidFill>
                  <a:srgbClr val="63748A"/>
                </a:solidFill>
                <a:latin typeface="Calibri" pitchFamily="34" charset="0"/>
                <a:ea typeface="Calibri" pitchFamily="34" charset="-122"/>
                <a:cs typeface="Calibri" pitchFamily="34" charset="-120"/>
              </a:rPr>
              <a:t>the affinity ligand with the longest controlled clinical leachate history</a:t>
            </a:r>
            <a:endParaRPr lang="en-US" sz="950" dirty="0"/>
          </a:p>
        </p:txBody>
      </p:sp>
      <p:sp>
        <p:nvSpPr>
          <p:cNvPr id="8" name="Shape 6"/>
          <p:cNvSpPr/>
          <p:nvPr/>
        </p:nvSpPr>
        <p:spPr>
          <a:xfrm>
            <a:off x="3374136" y="1207008"/>
            <a:ext cx="2606040" cy="1298448"/>
          </a:xfrm>
          <a:prstGeom prst="roundRect">
            <a:avLst>
              <a:gd name="adj" fmla="val 4225"/>
            </a:avLst>
          </a:prstGeom>
          <a:solidFill>
            <a:srgbClr val="F2F6F9"/>
          </a:solidFill>
          <a:ln w="9525">
            <a:solidFill>
              <a:srgbClr val="DCE4EC"/>
            </a:solidFill>
            <a:prstDash val="solid"/>
          </a:ln>
        </p:spPr>
      </p:sp>
      <p:sp>
        <p:nvSpPr>
          <p:cNvPr id="9" name="Text 7"/>
          <p:cNvSpPr/>
          <p:nvPr/>
        </p:nvSpPr>
        <p:spPr>
          <a:xfrm>
            <a:off x="3520440" y="1298448"/>
            <a:ext cx="2313432" cy="457200"/>
          </a:xfrm>
          <a:prstGeom prst="rect">
            <a:avLst/>
          </a:prstGeom>
          <a:noFill/>
          <a:ln/>
        </p:spPr>
        <p:txBody>
          <a:bodyPr wrap="square" lIns="0" tIns="0" rIns="0" bIns="0" rtlCol="0" anchor="ctr"/>
          <a:lstStyle/>
          <a:p>
            <a:pPr indent="0" marL="0">
              <a:buNone/>
            </a:pPr>
            <a:r>
              <a:rPr lang="en-US" sz="2600" b="1" dirty="0">
                <a:solidFill>
                  <a:srgbClr val="B23B3B"/>
                </a:solidFill>
                <a:latin typeface="Cambria" pitchFamily="34" charset="0"/>
                <a:ea typeface="Cambria" pitchFamily="34" charset="-122"/>
                <a:cs typeface="Cambria" pitchFamily="34" charset="-120"/>
              </a:rPr>
              <a:t>4</a:t>
            </a:r>
            <a:endParaRPr lang="en-US" sz="2600" dirty="0"/>
          </a:p>
        </p:txBody>
      </p:sp>
      <p:sp>
        <p:nvSpPr>
          <p:cNvPr id="10" name="Text 8"/>
          <p:cNvSpPr/>
          <p:nvPr/>
        </p:nvSpPr>
        <p:spPr>
          <a:xfrm>
            <a:off x="3520440" y="1755648"/>
            <a:ext cx="2313432" cy="219456"/>
          </a:xfrm>
          <a:prstGeom prst="rect">
            <a:avLst/>
          </a:prstGeom>
          <a:noFill/>
          <a:ln/>
        </p:spPr>
        <p:txBody>
          <a:bodyPr wrap="square" lIns="0" tIns="0" rIns="0" bIns="0" rtlCol="0" anchor="ctr"/>
          <a:lstStyle/>
          <a:p>
            <a:pPr indent="0" marL="0">
              <a:buNone/>
            </a:pPr>
            <a:r>
              <a:rPr lang="en-US" sz="850" b="1" spc="90" kern="0" dirty="0">
                <a:solidFill>
                  <a:srgbClr val="63748A"/>
                </a:solidFill>
                <a:latin typeface="Calibri" pitchFamily="34" charset="0"/>
                <a:ea typeface="Calibri" pitchFamily="34" charset="-122"/>
                <a:cs typeface="Calibri" pitchFamily="34" charset="-120"/>
              </a:rPr>
              <a:t>NON-SELF EPITOPES</a:t>
            </a:r>
            <a:endParaRPr lang="en-US" sz="850" dirty="0"/>
          </a:p>
        </p:txBody>
      </p:sp>
      <p:sp>
        <p:nvSpPr>
          <p:cNvPr id="11" name="Text 9"/>
          <p:cNvSpPr/>
          <p:nvPr/>
        </p:nvSpPr>
        <p:spPr>
          <a:xfrm>
            <a:off x="3520440" y="1984248"/>
            <a:ext cx="2313432" cy="457200"/>
          </a:xfrm>
          <a:prstGeom prst="rect">
            <a:avLst/>
          </a:prstGeom>
          <a:noFill/>
          <a:ln/>
        </p:spPr>
        <p:txBody>
          <a:bodyPr wrap="square" lIns="0" tIns="0" rIns="0" bIns="0" rtlCol="0" anchor="ctr"/>
          <a:lstStyle/>
          <a:p>
            <a:pPr indent="0" marL="0">
              <a:lnSpc>
                <a:spcPts val="1200"/>
              </a:lnSpc>
              <a:buNone/>
            </a:pPr>
            <a:r>
              <a:rPr lang="en-US" sz="950" dirty="0">
                <a:solidFill>
                  <a:srgbClr val="63748A"/>
                </a:solidFill>
                <a:latin typeface="Calibri" pitchFamily="34" charset="0"/>
                <a:ea typeface="Calibri" pitchFamily="34" charset="-122"/>
                <a:cs typeface="Calibri" pitchFamily="34" charset="-120"/>
              </a:rPr>
              <a:t>of 5 total; 1 matched human self and were down-weighted</a:t>
            </a:r>
            <a:endParaRPr lang="en-US" sz="950" dirty="0"/>
          </a:p>
        </p:txBody>
      </p:sp>
      <p:sp>
        <p:nvSpPr>
          <p:cNvPr id="12" name="Shape 10"/>
          <p:cNvSpPr/>
          <p:nvPr/>
        </p:nvSpPr>
        <p:spPr>
          <a:xfrm>
            <a:off x="6181344" y="1207008"/>
            <a:ext cx="2606040" cy="1298448"/>
          </a:xfrm>
          <a:prstGeom prst="roundRect">
            <a:avLst>
              <a:gd name="adj" fmla="val 4225"/>
            </a:avLst>
          </a:prstGeom>
          <a:solidFill>
            <a:srgbClr val="F2F6F9"/>
          </a:solidFill>
          <a:ln w="9525">
            <a:solidFill>
              <a:srgbClr val="DCE4EC"/>
            </a:solidFill>
            <a:prstDash val="solid"/>
          </a:ln>
        </p:spPr>
      </p:sp>
      <p:sp>
        <p:nvSpPr>
          <p:cNvPr id="13" name="Text 11"/>
          <p:cNvSpPr/>
          <p:nvPr/>
        </p:nvSpPr>
        <p:spPr>
          <a:xfrm>
            <a:off x="6327648" y="1298448"/>
            <a:ext cx="2313432" cy="457200"/>
          </a:xfrm>
          <a:prstGeom prst="rect">
            <a:avLst/>
          </a:prstGeom>
          <a:noFill/>
          <a:ln/>
        </p:spPr>
        <p:txBody>
          <a:bodyPr wrap="square" lIns="0" tIns="0" rIns="0" bIns="0" rtlCol="0" anchor="ctr"/>
          <a:lstStyle/>
          <a:p>
            <a:pPr indent="0" marL="0">
              <a:buNone/>
            </a:pPr>
            <a:r>
              <a:rPr lang="en-US" sz="2600" b="1" dirty="0">
                <a:solidFill>
                  <a:srgbClr val="C9752B"/>
                </a:solidFill>
                <a:latin typeface="Cambria" pitchFamily="34" charset="0"/>
                <a:ea typeface="Cambria" pitchFamily="34" charset="-122"/>
                <a:cs typeface="Cambria" pitchFamily="34" charset="-120"/>
              </a:rPr>
              <a:t>40%</a:t>
            </a:r>
            <a:endParaRPr lang="en-US" sz="2600" dirty="0"/>
          </a:p>
        </p:txBody>
      </p:sp>
      <p:sp>
        <p:nvSpPr>
          <p:cNvPr id="14" name="Text 12"/>
          <p:cNvSpPr/>
          <p:nvPr/>
        </p:nvSpPr>
        <p:spPr>
          <a:xfrm>
            <a:off x="6327648" y="1755648"/>
            <a:ext cx="2313432" cy="219456"/>
          </a:xfrm>
          <a:prstGeom prst="rect">
            <a:avLst/>
          </a:prstGeom>
          <a:noFill/>
          <a:ln/>
        </p:spPr>
        <p:txBody>
          <a:bodyPr wrap="square" lIns="0" tIns="0" rIns="0" bIns="0" rtlCol="0" anchor="ctr"/>
          <a:lstStyle/>
          <a:p>
            <a:pPr indent="0" marL="0">
              <a:buNone/>
            </a:pPr>
            <a:r>
              <a:rPr lang="en-US" sz="850" b="1" spc="90" kern="0" dirty="0">
                <a:solidFill>
                  <a:srgbClr val="63748A"/>
                </a:solidFill>
                <a:latin typeface="Calibri" pitchFamily="34" charset="0"/>
                <a:ea typeface="Calibri" pitchFamily="34" charset="-122"/>
                <a:cs typeface="Calibri" pitchFamily="34" charset="-120"/>
              </a:rPr>
              <a:t>US/EU POPULATION AT RISK</a:t>
            </a:r>
            <a:endParaRPr lang="en-US" sz="850" dirty="0"/>
          </a:p>
        </p:txBody>
      </p:sp>
      <p:sp>
        <p:nvSpPr>
          <p:cNvPr id="15" name="Text 13"/>
          <p:cNvSpPr/>
          <p:nvPr/>
        </p:nvSpPr>
        <p:spPr>
          <a:xfrm>
            <a:off x="6327648" y="1984248"/>
            <a:ext cx="2313432" cy="457200"/>
          </a:xfrm>
          <a:prstGeom prst="rect">
            <a:avLst/>
          </a:prstGeom>
          <a:noFill/>
          <a:ln/>
        </p:spPr>
        <p:txBody>
          <a:bodyPr wrap="square" lIns="0" tIns="0" rIns="0" bIns="0" rtlCol="0" anchor="ctr"/>
          <a:lstStyle/>
          <a:p>
            <a:pPr indent="0" marL="0">
              <a:lnSpc>
                <a:spcPts val="1200"/>
              </a:lnSpc>
              <a:buNone/>
            </a:pPr>
            <a:r>
              <a:rPr lang="en-US" sz="950" dirty="0">
                <a:solidFill>
                  <a:srgbClr val="63748A"/>
                </a:solidFill>
                <a:latin typeface="Calibri" pitchFamily="34" charset="0"/>
                <a:ea typeface="Calibri" pitchFamily="34" charset="-122"/>
                <a:cs typeface="Calibri" pitchFamily="34" charset="-120"/>
              </a:rPr>
              <a:t>carry a DR molecule predicted to present ≥1 non-self epitope</a:t>
            </a:r>
            <a:endParaRPr lang="en-US" sz="950" dirty="0"/>
          </a:p>
        </p:txBody>
      </p:sp>
      <p:sp>
        <p:nvSpPr>
          <p:cNvPr id="16" name="Shape 14"/>
          <p:cNvSpPr/>
          <p:nvPr/>
        </p:nvSpPr>
        <p:spPr>
          <a:xfrm>
            <a:off x="8988552" y="1207008"/>
            <a:ext cx="2606040" cy="1298448"/>
          </a:xfrm>
          <a:prstGeom prst="roundRect">
            <a:avLst>
              <a:gd name="adj" fmla="val 4225"/>
            </a:avLst>
          </a:prstGeom>
          <a:solidFill>
            <a:srgbClr val="F2F6F9"/>
          </a:solidFill>
          <a:ln w="9525">
            <a:solidFill>
              <a:srgbClr val="DCE4EC"/>
            </a:solidFill>
            <a:prstDash val="solid"/>
          </a:ln>
        </p:spPr>
      </p:sp>
      <p:sp>
        <p:nvSpPr>
          <p:cNvPr id="17" name="Text 15"/>
          <p:cNvSpPr/>
          <p:nvPr/>
        </p:nvSpPr>
        <p:spPr>
          <a:xfrm>
            <a:off x="9134856" y="1298448"/>
            <a:ext cx="2313432" cy="457200"/>
          </a:xfrm>
          <a:prstGeom prst="rect">
            <a:avLst/>
          </a:prstGeom>
          <a:noFill/>
          <a:ln/>
        </p:spPr>
        <p:txBody>
          <a:bodyPr wrap="square" lIns="0" tIns="0" rIns="0" bIns="0" rtlCol="0" anchor="ctr"/>
          <a:lstStyle/>
          <a:p>
            <a:pPr indent="0" marL="0">
              <a:buNone/>
            </a:pPr>
            <a:r>
              <a:rPr lang="en-US" sz="2600" b="1" dirty="0">
                <a:solidFill>
                  <a:srgbClr val="2F6F9F"/>
                </a:solidFill>
                <a:latin typeface="Cambria" pitchFamily="34" charset="0"/>
                <a:ea typeface="Cambria" pitchFamily="34" charset="-122"/>
                <a:cs typeface="Cambria" pitchFamily="34" charset="-120"/>
              </a:rPr>
              <a:t>7/25</a:t>
            </a:r>
            <a:endParaRPr lang="en-US" sz="2600" dirty="0"/>
          </a:p>
        </p:txBody>
      </p:sp>
      <p:sp>
        <p:nvSpPr>
          <p:cNvPr id="18" name="Text 16"/>
          <p:cNvSpPr/>
          <p:nvPr/>
        </p:nvSpPr>
        <p:spPr>
          <a:xfrm>
            <a:off x="9134856" y="1755648"/>
            <a:ext cx="2313432" cy="219456"/>
          </a:xfrm>
          <a:prstGeom prst="rect">
            <a:avLst/>
          </a:prstGeom>
          <a:noFill/>
          <a:ln/>
        </p:spPr>
        <p:txBody>
          <a:bodyPr wrap="square" lIns="0" tIns="0" rIns="0" bIns="0" rtlCol="0" anchor="ctr"/>
          <a:lstStyle/>
          <a:p>
            <a:pPr indent="0" marL="0">
              <a:buNone/>
            </a:pPr>
            <a:r>
              <a:rPr lang="en-US" sz="850" b="1" spc="90" kern="0" dirty="0">
                <a:solidFill>
                  <a:srgbClr val="63748A"/>
                </a:solidFill>
                <a:latin typeface="Calibri" pitchFamily="34" charset="0"/>
                <a:ea typeface="Calibri" pitchFamily="34" charset="-122"/>
                <a:cs typeface="Calibri" pitchFamily="34" charset="-120"/>
              </a:rPr>
              <a:t>PEAK PROMISCUITY</a:t>
            </a:r>
            <a:endParaRPr lang="en-US" sz="850" dirty="0"/>
          </a:p>
        </p:txBody>
      </p:sp>
      <p:sp>
        <p:nvSpPr>
          <p:cNvPr id="19" name="Text 17"/>
          <p:cNvSpPr/>
          <p:nvPr/>
        </p:nvSpPr>
        <p:spPr>
          <a:xfrm>
            <a:off x="9134856" y="1984248"/>
            <a:ext cx="2313432" cy="457200"/>
          </a:xfrm>
          <a:prstGeom prst="rect">
            <a:avLst/>
          </a:prstGeom>
          <a:noFill/>
          <a:ln/>
        </p:spPr>
        <p:txBody>
          <a:bodyPr wrap="square" lIns="0" tIns="0" rIns="0" bIns="0" rtlCol="0" anchor="ctr"/>
          <a:lstStyle/>
          <a:p>
            <a:pPr indent="0" marL="0">
              <a:lnSpc>
                <a:spcPts val="1200"/>
              </a:lnSpc>
              <a:buNone/>
            </a:pPr>
            <a:r>
              <a:rPr lang="en-US" sz="950" dirty="0">
                <a:solidFill>
                  <a:srgbClr val="63748A"/>
                </a:solidFill>
                <a:latin typeface="Calibri" pitchFamily="34" charset="0"/>
                <a:ea typeface="Calibri" pitchFamily="34" charset="-122"/>
                <a:cs typeface="Calibri" pitchFamily="34" charset="-120"/>
              </a:rPr>
              <a:t>DR molecules presenting the dominant epitope</a:t>
            </a:r>
            <a:endParaRPr lang="en-US" sz="950" dirty="0"/>
          </a:p>
        </p:txBody>
      </p:sp>
      <p:sp>
        <p:nvSpPr>
          <p:cNvPr id="20" name="Shape 18"/>
          <p:cNvSpPr/>
          <p:nvPr/>
        </p:nvSpPr>
        <p:spPr>
          <a:xfrm>
            <a:off x="566928" y="2743200"/>
            <a:ext cx="11027664" cy="1024128"/>
          </a:xfrm>
          <a:prstGeom prst="roundRect">
            <a:avLst>
              <a:gd name="adj" fmla="val 5357"/>
            </a:avLst>
          </a:prstGeom>
          <a:solidFill>
            <a:srgbClr val="FBF1F1"/>
          </a:solidFill>
          <a:ln w="9525">
            <a:solidFill>
              <a:srgbClr val="E8CDCD"/>
            </a:solidFill>
            <a:prstDash val="solid"/>
          </a:ln>
        </p:spPr>
      </p:sp>
      <p:sp>
        <p:nvSpPr>
          <p:cNvPr id="21" name="Text 19"/>
          <p:cNvSpPr/>
          <p:nvPr/>
        </p:nvSpPr>
        <p:spPr>
          <a:xfrm>
            <a:off x="749808" y="2852928"/>
            <a:ext cx="10661904" cy="822960"/>
          </a:xfrm>
          <a:prstGeom prst="rect">
            <a:avLst/>
          </a:prstGeom>
          <a:noFill/>
          <a:ln/>
        </p:spPr>
        <p:txBody>
          <a:bodyPr wrap="square" lIns="0" tIns="0" rIns="0" bIns="0" rtlCol="0" anchor="ctr"/>
          <a:lstStyle/>
          <a:p>
            <a:pPr indent="0" marL="0">
              <a:lnSpc>
                <a:spcPts val="1600"/>
              </a:lnSpc>
              <a:buNone/>
            </a:pPr>
            <a:r>
              <a:rPr lang="en-US" sz="1200" b="1" dirty="0">
                <a:solidFill>
                  <a:srgbClr val="B23B3B"/>
                </a:solidFill>
                <a:latin typeface="Calibri" pitchFamily="34" charset="0"/>
                <a:ea typeface="Calibri" pitchFamily="34" charset="-122"/>
                <a:cs typeface="Calibri" pitchFamily="34" charset="-120"/>
              </a:rPr>
              <a:t>The risk is concentrated, not diffuse.  </a:t>
            </a:r>
            <a:pPr indent="0" marL="0">
              <a:lnSpc>
                <a:spcPts val="1600"/>
              </a:lnSpc>
              <a:buNone/>
            </a:pPr>
            <a:r>
              <a:rPr lang="en-US" sz="1200" dirty="0">
                <a:solidFill>
                  <a:srgbClr val="12212E"/>
                </a:solidFill>
                <a:latin typeface="Calibri" pitchFamily="34" charset="0"/>
                <a:ea typeface="Calibri" pitchFamily="34" charset="-122"/>
                <a:cs typeface="Calibri" pitchFamily="34" charset="-120"/>
              </a:rPr>
              <a:t>Residues 47–56, binding core FVAVQDITA, peak 15-mer KEREFVAVQDITASN — presented by 8 of 25 DR molecules, reaching 40% of the weighted US/EU population. That single peptide is what a confirmatory assay should be built around; the rest of the sequence is unremarkable for a non-human protein this size.</a:t>
            </a:r>
            <a:endParaRPr lang="en-US" sz="1200" dirty="0"/>
          </a:p>
        </p:txBody>
      </p:sp>
      <p:sp>
        <p:nvSpPr>
          <p:cNvPr id="22" name="Shape 20"/>
          <p:cNvSpPr/>
          <p:nvPr/>
        </p:nvSpPr>
        <p:spPr>
          <a:xfrm>
            <a:off x="603504" y="4032504"/>
            <a:ext cx="128016" cy="128016"/>
          </a:xfrm>
          <a:prstGeom prst="ellipse">
            <a:avLst/>
          </a:prstGeom>
          <a:solidFill>
            <a:srgbClr val="B23B3B"/>
          </a:solidFill>
          <a:ln w="12700">
            <a:solidFill>
              <a:srgbClr val="B23B3B"/>
            </a:solidFill>
            <a:prstDash val="solid"/>
          </a:ln>
        </p:spPr>
      </p:sp>
      <p:sp>
        <p:nvSpPr>
          <p:cNvPr id="23" name="Text 21"/>
          <p:cNvSpPr/>
          <p:nvPr/>
        </p:nvSpPr>
        <p:spPr>
          <a:xfrm>
            <a:off x="877824" y="3931920"/>
            <a:ext cx="10661904" cy="566928"/>
          </a:xfrm>
          <a:prstGeom prst="rect">
            <a:avLst/>
          </a:prstGeom>
          <a:noFill/>
          <a:ln/>
        </p:spPr>
        <p:txBody>
          <a:bodyPr wrap="square" lIns="0" tIns="0" rIns="0" bIns="0" rtlCol="0" anchor="ctr"/>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Intrinsic score 0.47 population-weighted non-self epitope units / 100 aa, against 0.45 for the Protein A Z-domain — same batch, same panel, same thresholds.</a:t>
            </a:r>
            <a:endParaRPr lang="en-US" sz="1150" dirty="0"/>
          </a:p>
        </p:txBody>
      </p:sp>
      <p:sp>
        <p:nvSpPr>
          <p:cNvPr id="24" name="Shape 22"/>
          <p:cNvSpPr/>
          <p:nvPr/>
        </p:nvSpPr>
        <p:spPr>
          <a:xfrm>
            <a:off x="603504" y="4636008"/>
            <a:ext cx="128016" cy="128016"/>
          </a:xfrm>
          <a:prstGeom prst="ellipse">
            <a:avLst/>
          </a:prstGeom>
          <a:solidFill>
            <a:srgbClr val="3D8A6B"/>
          </a:solidFill>
          <a:ln w="12700">
            <a:solidFill>
              <a:srgbClr val="3D8A6B"/>
            </a:solidFill>
            <a:prstDash val="solid"/>
          </a:ln>
        </p:spPr>
      </p:sp>
      <p:sp>
        <p:nvSpPr>
          <p:cNvPr id="25" name="Text 23"/>
          <p:cNvSpPr/>
          <p:nvPr/>
        </p:nvSpPr>
        <p:spPr>
          <a:xfrm>
            <a:off x="877824" y="4535424"/>
            <a:ext cx="10661904" cy="566928"/>
          </a:xfrm>
          <a:prstGeom prst="rect">
            <a:avLst/>
          </a:prstGeom>
          <a:noFill/>
          <a:ln/>
        </p:spPr>
        <p:txBody>
          <a:bodyPr wrap="square" lIns="0" tIns="0" rIns="0" bIns="0" rtlCol="0" anchor="ctr"/>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Batch controls all pass: the panel finds the tetanus universal epitopes, and the tolerance filter suppresses the human self controls without flattening the foreign ligands.</a:t>
            </a:r>
            <a:endParaRPr lang="en-US" sz="1150" dirty="0"/>
          </a:p>
        </p:txBody>
      </p:sp>
      <p:sp>
        <p:nvSpPr>
          <p:cNvPr id="26" name="Shape 24"/>
          <p:cNvSpPr/>
          <p:nvPr/>
        </p:nvSpPr>
        <p:spPr>
          <a:xfrm>
            <a:off x="603504" y="5239512"/>
            <a:ext cx="128016" cy="128016"/>
          </a:xfrm>
          <a:prstGeom prst="ellipse">
            <a:avLst/>
          </a:prstGeom>
          <a:solidFill>
            <a:srgbClr val="B23B3B"/>
          </a:solidFill>
          <a:ln w="12700">
            <a:solidFill>
              <a:srgbClr val="B23B3B"/>
            </a:solidFill>
            <a:prstDash val="solid"/>
          </a:ln>
        </p:spPr>
      </p:sp>
      <p:sp>
        <p:nvSpPr>
          <p:cNvPr id="27" name="Text 25"/>
          <p:cNvSpPr/>
          <p:nvPr/>
        </p:nvSpPr>
        <p:spPr>
          <a:xfrm>
            <a:off x="877824" y="5138928"/>
            <a:ext cx="10661904" cy="566928"/>
          </a:xfrm>
          <a:prstGeom prst="rect">
            <a:avLst/>
          </a:prstGeom>
          <a:noFill/>
          <a:ln/>
        </p:spPr>
        <p:txBody>
          <a:bodyPr wrap="square" lIns="0" tIns="0" rIns="0" bIns="0" rtlCol="0" anchor="ctr"/>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The decision rule was measured against ground truth for the first time, and the affinity gate did not survive it. Removing it moved this ligand from 2.9× the Protein A benchmark to 1.05× — an unvalidated rule had been setting the headline.</a:t>
            </a:r>
            <a:endParaRPr lang="en-US" sz="1150" dirty="0"/>
          </a:p>
        </p:txBody>
      </p:sp>
      <p:sp>
        <p:nvSpPr>
          <p:cNvPr id="28" name="Shape 26"/>
          <p:cNvSpPr/>
          <p:nvPr/>
        </p:nvSpPr>
        <p:spPr>
          <a:xfrm>
            <a:off x="603504" y="5843016"/>
            <a:ext cx="128016" cy="128016"/>
          </a:xfrm>
          <a:prstGeom prst="ellipse">
            <a:avLst/>
          </a:prstGeom>
          <a:solidFill>
            <a:srgbClr val="3D8A6B"/>
          </a:solidFill>
          <a:ln w="12700">
            <a:solidFill>
              <a:srgbClr val="3D8A6B"/>
            </a:solidFill>
            <a:prstDash val="solid"/>
          </a:ln>
        </p:spPr>
      </p:sp>
      <p:sp>
        <p:nvSpPr>
          <p:cNvPr id="29" name="Text 27"/>
          <p:cNvSpPr/>
          <p:nvPr/>
        </p:nvSpPr>
        <p:spPr>
          <a:xfrm>
            <a:off x="877824" y="5742432"/>
            <a:ext cx="10661904" cy="566928"/>
          </a:xfrm>
          <a:prstGeom prst="rect">
            <a:avLst/>
          </a:prstGeom>
          <a:noFill/>
          <a:ln/>
        </p:spPr>
        <p:txBody>
          <a:bodyPr wrap="square" lIns="0" tIns="0" rIns="0" bIns="0" rtlCol="0" anchor="ctr"/>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Risk is intrinsic potential × dose. At ≤1 ng ligand / mg product and a 10 mg dose the exposure is ~0.01 µg — the regime in which qualified Protein A leachate has decades of clinical use.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WORKFLOW REVIEW</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What a single-tool DR scan cannot tell you</a:t>
            </a:r>
            <a:endParaRPr lang="en-US" sz="2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188720"/>
          <a:ext cx="11027664" cy="914400"/>
        </p:xfrm>
        <a:graphic>
          <a:graphicData uri="http://schemas.openxmlformats.org/drawingml/2006/table">
            <a:tbl>
              <a:tblPr/>
              <a:tblGrid>
                <a:gridCol w="777240"/>
                <a:gridCol w="2651760"/>
                <a:gridCol w="7598664"/>
              </a:tblGrid>
              <a:tr h="786384">
                <a:tc>
                  <a:txBody>
                    <a:bodyPr/>
                    <a:lstStyle/>
                    <a:p>
                      <a:pPr indent="0" marL="0">
                        <a:buNone/>
                      </a:pP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Added step</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The failure mode it fixes</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786384">
                <a:tc>
                  <a:txBody>
                    <a:bodyPr/>
                    <a:lstStyle/>
                    <a:p>
                      <a:pPr indent="0" marL="0">
                        <a:buNone/>
                      </a:pPr>
                      <a:r>
                        <a:rPr lang="en-US" sz="1000" b="1" dirty="0">
                          <a:solidFill>
                            <a:srgbClr val="2F6F9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alibri" pitchFamily="34" charset="0"/>
                          <a:ea typeface="Calibri" pitchFamily="34" charset="-122"/>
                          <a:cs typeface="Calibri" pitchFamily="34" charset="-120"/>
                        </a:rPr>
                        <a:t>Panel designed against measured coverage</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3B4A5A"/>
                          </a:solidFill>
                          <a:latin typeface="Calibri" pitchFamily="34" charset="0"/>
                          <a:ea typeface="Calibri" pitchFamily="34" charset="-122"/>
                          <a:cs typeface="Calibri" pitchFamily="34" charset="-120"/>
                        </a:rPr>
                        <a:t>The DR subset of the IEDB class II reference set is widely used as "broadly representative". Measured, it reaches 84.2% weighted US/EU DRB1 coverage — it cannot meet a 95–98% requirement at any size. A greedy build to a stated target reaches 97.3% at 21 DRB1 molecules.</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786384">
                <a:tc>
                  <a:txBody>
                    <a:bodyPr/>
                    <a:lstStyle/>
                    <a:p>
                      <a:pPr indent="0" marL="0">
                        <a:buNone/>
                      </a:pPr>
                      <a:r>
                        <a:rPr lang="en-US" sz="1000" b="1" dirty="0">
                          <a:solidFill>
                            <a:srgbClr val="2F6F9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alibri" pitchFamily="34" charset="0"/>
                          <a:ea typeface="Calibri" pitchFamily="34" charset="-122"/>
                          <a:cs typeface="Calibri" pitchFamily="34" charset="-120"/>
                        </a:rPr>
                        <a:t>Two orthogonal prediction heads</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3B4A5A"/>
                          </a:solidFill>
                          <a:latin typeface="Calibri" pitchFamily="34" charset="0"/>
                          <a:ea typeface="Calibri" pitchFamily="34" charset="-122"/>
                          <a:cs typeface="Calibri" pitchFamily="34" charset="-120"/>
                        </a:rPr>
                        <a:t>Both eluted-ligand and binding-affinity scores are computed for every 15-mer. Whether affinity should gate a call was an open question until M11 settled it against ground truth — the gate removed four real epitopes for every false one, so it is off, and both scores are still reported.</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786384">
                <a:tc>
                  <a:txBody>
                    <a:bodyPr/>
                    <a:lstStyle/>
                    <a:p>
                      <a:pPr indent="0" marL="0">
                        <a:buNone/>
                      </a:pPr>
                      <a:r>
                        <a:rPr lang="en-US" sz="1000" b="1" dirty="0">
                          <a:solidFill>
                            <a:srgbClr val="2F6F9F"/>
                          </a:solidFill>
                          <a:latin typeface="Calibri" pitchFamily="34" charset="0"/>
                          <a:ea typeface="Calibri" pitchFamily="34" charset="-122"/>
                          <a:cs typeface="Calibri" pitchFamily="34" charset="-120"/>
                        </a:rPr>
                        <a:t>M4</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alibri" pitchFamily="34" charset="0"/>
                          <a:ea typeface="Calibri" pitchFamily="34" charset="-122"/>
                          <a:cs typeface="Calibri" pitchFamily="34" charset="-120"/>
                        </a:rPr>
                        <a:t>Self / pre-existing-tolerance filter</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3B4A5A"/>
                          </a:solidFill>
                          <a:latin typeface="Calibri" pitchFamily="34" charset="0"/>
                          <a:ea typeface="Calibri" pitchFamily="34" charset="-122"/>
                          <a:cs typeface="Calibri" pitchFamily="34" charset="-120"/>
                        </a:rPr>
                        <a:t>Most DR hits in an antibody-derived ligand are framework cores near-identical to human germline V. Counting them inflates every VHH, scFv and Fab ligand identically and destroys the ranking. Validated here against a shuffled-sequence null.</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786384">
                <a:tc>
                  <a:txBody>
                    <a:bodyPr/>
                    <a:lstStyle/>
                    <a:p>
                      <a:pPr indent="0" marL="0">
                        <a:buNone/>
                      </a:pPr>
                      <a:r>
                        <a:rPr lang="en-US" sz="1000" b="1" dirty="0">
                          <a:solidFill>
                            <a:srgbClr val="2F6F9F"/>
                          </a:solidFill>
                          <a:latin typeface="Calibri" pitchFamily="34" charset="0"/>
                          <a:ea typeface="Calibri" pitchFamily="34" charset="-122"/>
                          <a:cs typeface="Calibri" pitchFamily="34" charset="-120"/>
                        </a:rPr>
                        <a:t>M5–M6</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alibri" pitchFamily="34" charset="0"/>
                          <a:ea typeface="Calibri" pitchFamily="34" charset="-122"/>
                          <a:cs typeface="Calibri" pitchFamily="34" charset="-120"/>
                        </a:rPr>
                        <a:t>Population weighting + benchmark calibration with controls</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3B4A5A"/>
                          </a:solidFill>
                          <a:latin typeface="Calibri" pitchFamily="34" charset="0"/>
                          <a:ea typeface="Calibri" pitchFamily="34" charset="-122"/>
                          <a:cs typeface="Calibri" pitchFamily="34" charset="-120"/>
                        </a:rPr>
                        <a:t>"13 strong binders" is uninterpretable. Weighting each hit by the fraction of the US/EU population carrying the presenting molecule, then expressing it against Protein A Z-domain, makes it a comparison rather than a count.</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786384">
                <a:tc>
                  <a:txBody>
                    <a:bodyPr/>
                    <a:lstStyle/>
                    <a:p>
                      <a:pPr indent="0" marL="0">
                        <a:buNone/>
                      </a:pPr>
                      <a:r>
                        <a:rPr lang="en-US" sz="1000" b="1" dirty="0">
                          <a:solidFill>
                            <a:srgbClr val="2F6F9F"/>
                          </a:solidFill>
                          <a:latin typeface="Calibri" pitchFamily="34" charset="0"/>
                          <a:ea typeface="Calibri" pitchFamily="34" charset="-122"/>
                          <a:cs typeface="Calibri" pitchFamily="34" charset="-120"/>
                        </a:rPr>
                        <a:t>M7–M8</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alibri" pitchFamily="34" charset="0"/>
                          <a:ea typeface="Calibri" pitchFamily="34" charset="-122"/>
                          <a:cs typeface="Calibri" pitchFamily="34" charset="-120"/>
                        </a:rPr>
                        <a:t>B-cell / ADA layer and exposure context</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3B4A5A"/>
                          </a:solidFill>
                          <a:latin typeface="Calibri" pitchFamily="34" charset="0"/>
                          <a:ea typeface="Calibri" pitchFamily="34" charset="-122"/>
                          <a:cs typeface="Calibri" pitchFamily="34" charset="-120"/>
                        </a:rPr>
                        <a:t>The measured endpoint is an anti-drug antibody assay, and impurity risk scales with µg delivered per dose. A T-cell-only, dose-free score cannot reach a risk call.</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
        <p:nvSpPr>
          <p:cNvPr id="5" name="Text 2"/>
          <p:cNvSpPr/>
          <p:nvPr/>
        </p:nvSpPr>
        <p:spPr>
          <a:xfrm>
            <a:off x="566928" y="6144768"/>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M9 (anchor-position deimmunisation scan) is optional — it only matters if the ligand itself can be re-engineered.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2 · PANEL</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The panel had to be designed, not inherited</a:t>
            </a:r>
            <a:endParaRPr lang="en-US" sz="2700" dirty="0"/>
          </a:p>
        </p:txBody>
      </p:sp>
      <p:pic>
        <p:nvPicPr>
          <p:cNvPr id="4" name="Image 0" descr="/home/user/ClaudeCode/hla_ligand_immunogenicity/figures/fig1_panel_coverage.png">    </p:cNvPr>
          <p:cNvPicPr>
            <a:picLocks noChangeAspect="1"/>
          </p:cNvPicPr>
          <p:nvPr/>
        </p:nvPicPr>
        <p:blipFill>
          <a:blip r:embed="rId1"/>
          <a:stretch>
            <a:fillRect/>
          </a:stretch>
        </p:blipFill>
        <p:spPr>
          <a:xfrm>
            <a:off x="566928" y="1152144"/>
            <a:ext cx="11027664" cy="3246120"/>
          </a:xfrm>
          <a:prstGeom prst="rect">
            <a:avLst/>
          </a:prstGeom>
        </p:spPr>
      </p:pic>
      <p:sp>
        <p:nvSpPr>
          <p:cNvPr id="5" name="Text 2"/>
          <p:cNvSpPr/>
          <p:nvPr/>
        </p:nvSpPr>
        <p:spPr>
          <a:xfrm>
            <a:off x="566928" y="4590288"/>
            <a:ext cx="11027664" cy="960120"/>
          </a:xfrm>
          <a:prstGeom prst="rect">
            <a:avLst/>
          </a:prstGeom>
          <a:noFill/>
          <a:ln/>
        </p:spPr>
        <p:txBody>
          <a:bodyPr wrap="square" lIns="0" tIns="0" rIns="0" bIns="0" rtlCol="0" anchor="ctr"/>
          <a:lstStyle/>
          <a:p>
            <a:pPr indent="0" marL="0">
              <a:lnSpc>
                <a:spcPts val="1600"/>
              </a:lnSpc>
              <a:buNone/>
            </a:pPr>
            <a:r>
              <a:rPr lang="en-US" sz="1700" b="1" dirty="0">
                <a:solidFill>
                  <a:srgbClr val="2F6F9F"/>
                </a:solidFill>
                <a:latin typeface="Cambria" pitchFamily="34" charset="0"/>
                <a:ea typeface="Cambria" pitchFamily="34" charset="-122"/>
                <a:cs typeface="Cambria" pitchFamily="34" charset="-120"/>
              </a:rPr>
              <a:t>84.2% → 97.3%   </a:t>
            </a:r>
            <a:pPr indent="0" marL="0">
              <a:lnSpc>
                <a:spcPts val="1600"/>
              </a:lnSpc>
              <a:buNone/>
            </a:pPr>
            <a:r>
              <a:rPr lang="en-US" sz="1200" dirty="0">
                <a:solidFill>
                  <a:srgbClr val="12212E"/>
                </a:solidFill>
                <a:latin typeface="Calibri" pitchFamily="34" charset="0"/>
                <a:ea typeface="Calibri" pitchFamily="34" charset="-122"/>
                <a:cs typeface="Calibri" pitchFamily="34" charset="-120"/>
              </a:rPr>
              <a:t>weighted US/EU DRB1 phenotypic coverage, 15 → 25 DR molecules. The missing coverage in the legacy set sits in alleles it does not contain — DRB1*13:01, *04:04, *11:04, *16:01, *14:01 — so no amount of re-weighting fixes it.</a:t>
            </a:r>
            <a:endParaRPr lang="en-US" sz="1200" dirty="0"/>
          </a:p>
        </p:txBody>
      </p:sp>
      <p:sp>
        <p:nvSpPr>
          <p:cNvPr id="6" name="Text 3"/>
          <p:cNvSpPr/>
          <p:nvPr/>
        </p:nvSpPr>
        <p:spPr>
          <a:xfrm>
            <a:off x="566928" y="5605272"/>
            <a:ext cx="11027664" cy="347472"/>
          </a:xfrm>
          <a:prstGeom prst="rect">
            <a:avLst/>
          </a:prstGeom>
          <a:noFill/>
          <a:ln/>
        </p:spPr>
        <p:txBody>
          <a:bodyPr wrap="square" lIns="0" tIns="0" rIns="0" bIns="0" rtlCol="0" anchor="ctr"/>
          <a:lstStyle/>
          <a:p>
            <a:pPr indent="0" marL="0">
              <a:buNone/>
            </a:pPr>
            <a:r>
              <a:rPr lang="en-US" sz="950" dirty="0">
                <a:solidFill>
                  <a:srgbClr val="63748A"/>
                </a:solidFill>
                <a:latin typeface="Calibri" pitchFamily="34" charset="0"/>
                <a:ea typeface="Calibri" pitchFamily="34" charset="-122"/>
                <a:cs typeface="Calibri" pitchFamily="34" charset="-120"/>
              </a:rPr>
              <a:t>Panel — DRB1*  07:01 · 03:01 · 15:01 · 01:01 · 11:01 · 04:01 · 13:01 · 13:02 · 04:04 · 11:04 · 16:01 · 14:01 · 04:07 · 12:01 · 09:01 · 08:02 · 01:02 · 08:01 · 15:03 · 13:03 · 04:05    +    DRB3*01:01 · DRB3*02:02 · DRB4*01:01 · DRB5*01:01</a:t>
            </a:r>
            <a:endParaRPr lang="en-US" sz="950" dirty="0"/>
          </a:p>
        </p:txBody>
      </p:sp>
      <p:sp>
        <p:nvSpPr>
          <p:cNvPr id="7" name="Text 4"/>
          <p:cNvSpPr/>
          <p:nvPr/>
        </p:nvSpPr>
        <p:spPr>
          <a:xfrm>
            <a:off x="566928" y="6053328"/>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Coverage is single-locus Hardy–Weinberg over the IEDB tables, reproducing the IEDB CLI to two decimals. DRB3/4/5 carry no frequencies there, so they add presentation breadth without entering this arithmetic. US Asian lands at 85% and US Amerindian at 67%: a US/EU-weighted objective does not buy those populations.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3 · PREDICTION</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Binding landscape across the full panel</a:t>
            </a:r>
            <a:endParaRPr lang="en-US" sz="2700" dirty="0"/>
          </a:p>
        </p:txBody>
      </p:sp>
      <p:pic>
        <p:nvPicPr>
          <p:cNvPr id="4" name="Image 0" descr="/home/user/ClaudeCode/hla_ligand_immunogenicity/figures/fig2_binding_landscape.png">    </p:cNvPr>
          <p:cNvPicPr>
            <a:picLocks noChangeAspect="1"/>
          </p:cNvPicPr>
          <p:nvPr/>
        </p:nvPicPr>
        <p:blipFill>
          <a:blip r:embed="rId1"/>
          <a:stretch>
            <a:fillRect/>
          </a:stretch>
        </p:blipFill>
        <p:spPr>
          <a:xfrm>
            <a:off x="566928" y="1097280"/>
            <a:ext cx="11027664" cy="3977640"/>
          </a:xfrm>
          <a:prstGeom prst="rect">
            <a:avLst/>
          </a:prstGeom>
        </p:spPr>
      </p:pic>
      <p:sp>
        <p:nvSpPr>
          <p:cNvPr id="5" name="Text 2"/>
          <p:cNvSpPr/>
          <p:nvPr/>
        </p:nvSpPr>
        <p:spPr>
          <a:xfrm>
            <a:off x="566928" y="5193792"/>
            <a:ext cx="11027664" cy="914400"/>
          </a:xfrm>
          <a:prstGeom prst="rect">
            <a:avLst/>
          </a:prstGeom>
          <a:noFill/>
          <a:ln/>
        </p:spPr>
        <p:txBody>
          <a:bodyPr wrap="square" lIns="0" tIns="0" rIns="0" bIns="0" rtlCol="0" anchor="ctr"/>
          <a:lstStyle/>
          <a:p>
            <a:pPr indent="0" marL="0">
              <a:lnSpc>
                <a:spcPts val="1600"/>
              </a:lnSpc>
              <a:buNone/>
            </a:pPr>
            <a:r>
              <a:rPr lang="en-US" sz="1700" b="1" dirty="0">
                <a:solidFill>
                  <a:srgbClr val="2F6F9F"/>
                </a:solidFill>
                <a:latin typeface="Cambria" pitchFamily="34" charset="0"/>
                <a:ea typeface="Cambria" pitchFamily="34" charset="-122"/>
                <a:cs typeface="Cambria" pitchFamily="34" charset="-120"/>
              </a:rPr>
              <a:t>266 strong-binder calls   </a:t>
            </a:r>
            <a:pPr indent="0" marL="0">
              <a:lnSpc>
                <a:spcPts val="1600"/>
              </a:lnSpc>
              <a:buNone/>
            </a:pPr>
            <a:r>
              <a:rPr lang="en-US" sz="1200" dirty="0">
                <a:solidFill>
                  <a:srgbClr val="12212E"/>
                </a:solidFill>
                <a:latin typeface="Calibri" pitchFamily="34" charset="0"/>
                <a:ea typeface="Calibri" pitchFamily="34" charset="-122"/>
                <a:cs typeface="Calibri" pitchFamily="34" charset="-120"/>
              </a:rPr>
              <a:t>across the batch on eluted-ligand scoring at %Rank &lt; 1. Against the labelled benchmark the affinity gate removed roughly four real epitopes for every false one, so it is off and all 266 calls are used. Affinity is still predicted and reported — it no longer vetoes a call.</a:t>
            </a:r>
            <a:endParaRPr lang="en-US" sz="1200" dirty="0"/>
          </a:p>
        </p:txBody>
      </p:sp>
      <p:sp>
        <p:nvSpPr>
          <p:cNvPr id="6" name="Text 3"/>
          <p:cNvSpPr/>
          <p:nvPr/>
        </p:nvSpPr>
        <p:spPr>
          <a:xfrm>
            <a:off x="566928" y="6108192"/>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15-mer scan, EL %Rank &lt; 1 = strong, &lt; 5 = weak. Boxes mark consolidated epitope clusters; the track below counts DR molecules with a strong call at each frame.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4 · TOLERANCE FILTER</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Framework hits are not risk</a:t>
            </a:r>
            <a:endParaRPr lang="en-US" sz="2700" dirty="0"/>
          </a:p>
        </p:txBody>
      </p:sp>
      <p:sp>
        <p:nvSpPr>
          <p:cNvPr id="4" name="Shape 2"/>
          <p:cNvSpPr/>
          <p:nvPr/>
        </p:nvSpPr>
        <p:spPr>
          <a:xfrm>
            <a:off x="566928" y="1188720"/>
            <a:ext cx="3541776" cy="1298448"/>
          </a:xfrm>
          <a:prstGeom prst="roundRect">
            <a:avLst>
              <a:gd name="adj" fmla="val 4225"/>
            </a:avLst>
          </a:prstGeom>
          <a:solidFill>
            <a:srgbClr val="F2F6F9"/>
          </a:solidFill>
          <a:ln w="9525">
            <a:solidFill>
              <a:srgbClr val="DCE4EC"/>
            </a:solidFill>
            <a:prstDash val="solid"/>
          </a:ln>
        </p:spPr>
      </p:sp>
      <p:sp>
        <p:nvSpPr>
          <p:cNvPr id="5" name="Text 3"/>
          <p:cNvSpPr/>
          <p:nvPr/>
        </p:nvSpPr>
        <p:spPr>
          <a:xfrm>
            <a:off x="713232" y="1280160"/>
            <a:ext cx="3249168" cy="457200"/>
          </a:xfrm>
          <a:prstGeom prst="rect">
            <a:avLst/>
          </a:prstGeom>
          <a:noFill/>
          <a:ln/>
        </p:spPr>
        <p:txBody>
          <a:bodyPr wrap="square" lIns="0" tIns="0" rIns="0" bIns="0" rtlCol="0" anchor="ctr"/>
          <a:lstStyle/>
          <a:p>
            <a:pPr indent="0" marL="0">
              <a:buNone/>
            </a:pPr>
            <a:r>
              <a:rPr lang="en-US" sz="2600" b="1" dirty="0">
                <a:solidFill>
                  <a:srgbClr val="3D8A6B"/>
                </a:solidFill>
                <a:latin typeface="Cambria" pitchFamily="34" charset="0"/>
                <a:ea typeface="Cambria" pitchFamily="34" charset="-122"/>
                <a:cs typeface="Cambria" pitchFamily="34" charset="-120"/>
              </a:rPr>
              <a:t>20.9%</a:t>
            </a:r>
            <a:endParaRPr lang="en-US" sz="2600" dirty="0"/>
          </a:p>
        </p:txBody>
      </p:sp>
      <p:sp>
        <p:nvSpPr>
          <p:cNvPr id="6" name="Text 4"/>
          <p:cNvSpPr/>
          <p:nvPr/>
        </p:nvSpPr>
        <p:spPr>
          <a:xfrm>
            <a:off x="713232" y="1737360"/>
            <a:ext cx="3249168" cy="219456"/>
          </a:xfrm>
          <a:prstGeom prst="rect">
            <a:avLst/>
          </a:prstGeom>
          <a:noFill/>
          <a:ln/>
        </p:spPr>
        <p:txBody>
          <a:bodyPr wrap="square" lIns="0" tIns="0" rIns="0" bIns="0" rtlCol="0" anchor="ctr"/>
          <a:lstStyle/>
          <a:p>
            <a:pPr indent="0" marL="0">
              <a:buNone/>
            </a:pPr>
            <a:r>
              <a:rPr lang="en-US" sz="850" b="1" spc="90" kern="0" dirty="0">
                <a:solidFill>
                  <a:srgbClr val="63748A"/>
                </a:solidFill>
                <a:latin typeface="Calibri" pitchFamily="34" charset="0"/>
                <a:ea typeface="Calibri" pitchFamily="34" charset="-122"/>
                <a:cs typeface="Calibri" pitchFamily="34" charset="-120"/>
              </a:rPr>
              <a:t>CORES THAT ARE EXACT HUMAN 9-MERS</a:t>
            </a:r>
            <a:endParaRPr lang="en-US" sz="850" dirty="0"/>
          </a:p>
        </p:txBody>
      </p:sp>
      <p:sp>
        <p:nvSpPr>
          <p:cNvPr id="7" name="Text 5"/>
          <p:cNvSpPr/>
          <p:nvPr/>
        </p:nvSpPr>
        <p:spPr>
          <a:xfrm>
            <a:off x="713232" y="1965960"/>
            <a:ext cx="3249168" cy="457200"/>
          </a:xfrm>
          <a:prstGeom prst="rect">
            <a:avLst/>
          </a:prstGeom>
          <a:noFill/>
          <a:ln/>
        </p:spPr>
        <p:txBody>
          <a:bodyPr wrap="square" lIns="0" tIns="0" rIns="0" bIns="0" rtlCol="0" anchor="ctr"/>
          <a:lstStyle/>
          <a:p>
            <a:pPr indent="0" marL="0">
              <a:lnSpc>
                <a:spcPts val="1200"/>
              </a:lnSpc>
              <a:buNone/>
            </a:pPr>
            <a:r>
              <a:rPr lang="en-US" sz="950" dirty="0">
                <a:solidFill>
                  <a:srgbClr val="63748A"/>
                </a:solidFill>
                <a:latin typeface="Calibri" pitchFamily="34" charset="0"/>
                <a:ea typeface="Calibri" pitchFamily="34" charset="-122"/>
                <a:cs typeface="Calibri" pitchFamily="34" charset="-120"/>
              </a:rPr>
              <a:t>the peptide itself occurs in the human proteome — weight 0</a:t>
            </a:r>
            <a:endParaRPr lang="en-US" sz="950" dirty="0"/>
          </a:p>
        </p:txBody>
      </p:sp>
      <p:sp>
        <p:nvSpPr>
          <p:cNvPr id="8" name="Shape 6"/>
          <p:cNvSpPr/>
          <p:nvPr/>
        </p:nvSpPr>
        <p:spPr>
          <a:xfrm>
            <a:off x="4309872" y="1188720"/>
            <a:ext cx="3541776" cy="1298448"/>
          </a:xfrm>
          <a:prstGeom prst="roundRect">
            <a:avLst>
              <a:gd name="adj" fmla="val 4225"/>
            </a:avLst>
          </a:prstGeom>
          <a:solidFill>
            <a:srgbClr val="F2F6F9"/>
          </a:solidFill>
          <a:ln w="9525">
            <a:solidFill>
              <a:srgbClr val="DCE4EC"/>
            </a:solidFill>
            <a:prstDash val="solid"/>
          </a:ln>
        </p:spPr>
      </p:sp>
      <p:sp>
        <p:nvSpPr>
          <p:cNvPr id="9" name="Text 7"/>
          <p:cNvSpPr/>
          <p:nvPr/>
        </p:nvSpPr>
        <p:spPr>
          <a:xfrm>
            <a:off x="4456176" y="1280160"/>
            <a:ext cx="3249168" cy="457200"/>
          </a:xfrm>
          <a:prstGeom prst="rect">
            <a:avLst/>
          </a:prstGeom>
          <a:noFill/>
          <a:ln/>
        </p:spPr>
        <p:txBody>
          <a:bodyPr wrap="square" lIns="0" tIns="0" rIns="0" bIns="0" rtlCol="0" anchor="ctr"/>
          <a:lstStyle/>
          <a:p>
            <a:pPr indent="0" marL="0">
              <a:buNone/>
            </a:pPr>
            <a:r>
              <a:rPr lang="en-US" sz="2600" b="1" dirty="0">
                <a:solidFill>
                  <a:srgbClr val="C9752B"/>
                </a:solidFill>
                <a:latin typeface="Cambria" pitchFamily="34" charset="0"/>
                <a:ea typeface="Cambria" pitchFamily="34" charset="-122"/>
                <a:cs typeface="Cambria" pitchFamily="34" charset="-120"/>
              </a:rPr>
              <a:t>3.8%</a:t>
            </a:r>
            <a:endParaRPr lang="en-US" sz="2600" dirty="0"/>
          </a:p>
        </p:txBody>
      </p:sp>
      <p:sp>
        <p:nvSpPr>
          <p:cNvPr id="10" name="Text 8"/>
          <p:cNvSpPr/>
          <p:nvPr/>
        </p:nvSpPr>
        <p:spPr>
          <a:xfrm>
            <a:off x="4456176" y="1737360"/>
            <a:ext cx="3249168" cy="219456"/>
          </a:xfrm>
          <a:prstGeom prst="rect">
            <a:avLst/>
          </a:prstGeom>
          <a:noFill/>
          <a:ln/>
        </p:spPr>
        <p:txBody>
          <a:bodyPr wrap="square" lIns="0" tIns="0" rIns="0" bIns="0" rtlCol="0" anchor="ctr"/>
          <a:lstStyle/>
          <a:p>
            <a:pPr indent="0" marL="0">
              <a:buNone/>
            </a:pPr>
            <a:r>
              <a:rPr lang="en-US" sz="850" b="1" spc="90" kern="0" dirty="0">
                <a:solidFill>
                  <a:srgbClr val="63748A"/>
                </a:solidFill>
                <a:latin typeface="Calibri" pitchFamily="34" charset="0"/>
                <a:ea typeface="Calibri" pitchFamily="34" charset="-122"/>
                <a:cs typeface="Calibri" pitchFamily="34" charset="-120"/>
              </a:rPr>
              <a:t>ONE SUBSTITUTION FROM HUMAN</a:t>
            </a:r>
            <a:endParaRPr lang="en-US" sz="850" dirty="0"/>
          </a:p>
        </p:txBody>
      </p:sp>
      <p:sp>
        <p:nvSpPr>
          <p:cNvPr id="11" name="Text 9"/>
          <p:cNvSpPr/>
          <p:nvPr/>
        </p:nvSpPr>
        <p:spPr>
          <a:xfrm>
            <a:off x="4456176" y="1965960"/>
            <a:ext cx="3249168" cy="457200"/>
          </a:xfrm>
          <a:prstGeom prst="rect">
            <a:avLst/>
          </a:prstGeom>
          <a:noFill/>
          <a:ln/>
        </p:spPr>
        <p:txBody>
          <a:bodyPr wrap="square" lIns="0" tIns="0" rIns="0" bIns="0" rtlCol="0" anchor="ctr"/>
          <a:lstStyle/>
          <a:p>
            <a:pPr indent="0" marL="0">
              <a:lnSpc>
                <a:spcPts val="1200"/>
              </a:lnSpc>
              <a:buNone/>
            </a:pPr>
            <a:r>
              <a:rPr lang="en-US" sz="950" dirty="0">
                <a:solidFill>
                  <a:srgbClr val="63748A"/>
                </a:solidFill>
                <a:latin typeface="Calibri" pitchFamily="34" charset="0"/>
                <a:ea typeface="Calibri" pitchFamily="34" charset="-122"/>
                <a:cs typeface="Calibri" pitchFamily="34" charset="-120"/>
              </a:rPr>
              <a:t>8/9 identity to a human 9-mer — weight 0.35</a:t>
            </a:r>
            <a:endParaRPr lang="en-US" sz="950" dirty="0"/>
          </a:p>
        </p:txBody>
      </p:sp>
      <p:sp>
        <p:nvSpPr>
          <p:cNvPr id="12" name="Shape 10"/>
          <p:cNvSpPr/>
          <p:nvPr/>
        </p:nvSpPr>
        <p:spPr>
          <a:xfrm>
            <a:off x="8052816" y="1188720"/>
            <a:ext cx="3541776" cy="1298448"/>
          </a:xfrm>
          <a:prstGeom prst="roundRect">
            <a:avLst>
              <a:gd name="adj" fmla="val 4225"/>
            </a:avLst>
          </a:prstGeom>
          <a:solidFill>
            <a:srgbClr val="F2F6F9"/>
          </a:solidFill>
          <a:ln w="9525">
            <a:solidFill>
              <a:srgbClr val="DCE4EC"/>
            </a:solidFill>
            <a:prstDash val="solid"/>
          </a:ln>
        </p:spPr>
      </p:sp>
      <p:sp>
        <p:nvSpPr>
          <p:cNvPr id="13" name="Text 11"/>
          <p:cNvSpPr/>
          <p:nvPr/>
        </p:nvSpPr>
        <p:spPr>
          <a:xfrm>
            <a:off x="8199120" y="1280160"/>
            <a:ext cx="3249168" cy="457200"/>
          </a:xfrm>
          <a:prstGeom prst="rect">
            <a:avLst/>
          </a:prstGeom>
          <a:noFill/>
          <a:ln/>
        </p:spPr>
        <p:txBody>
          <a:bodyPr wrap="square" lIns="0" tIns="0" rIns="0" bIns="0" rtlCol="0" anchor="ctr"/>
          <a:lstStyle/>
          <a:p>
            <a:pPr indent="0" marL="0">
              <a:buNone/>
            </a:pPr>
            <a:r>
              <a:rPr lang="en-US" sz="2600" b="1" dirty="0">
                <a:solidFill>
                  <a:srgbClr val="2F6F9F"/>
                </a:solidFill>
                <a:latin typeface="Cambria" pitchFamily="34" charset="0"/>
                <a:ea typeface="Cambria" pitchFamily="34" charset="-122"/>
                <a:cs typeface="Cambria" pitchFamily="34" charset="-120"/>
              </a:rPr>
              <a:t>27.21×</a:t>
            </a:r>
            <a:endParaRPr lang="en-US" sz="2600" dirty="0"/>
          </a:p>
        </p:txBody>
      </p:sp>
      <p:sp>
        <p:nvSpPr>
          <p:cNvPr id="14" name="Text 12"/>
          <p:cNvSpPr/>
          <p:nvPr/>
        </p:nvSpPr>
        <p:spPr>
          <a:xfrm>
            <a:off x="8199120" y="1737360"/>
            <a:ext cx="3249168" cy="219456"/>
          </a:xfrm>
          <a:prstGeom prst="rect">
            <a:avLst/>
          </a:prstGeom>
          <a:noFill/>
          <a:ln/>
        </p:spPr>
        <p:txBody>
          <a:bodyPr wrap="square" lIns="0" tIns="0" rIns="0" bIns="0" rtlCol="0" anchor="ctr"/>
          <a:lstStyle/>
          <a:p>
            <a:pPr indent="0" marL="0">
              <a:buNone/>
            </a:pPr>
            <a:r>
              <a:rPr lang="en-US" sz="850" b="1" spc="90" kern="0" dirty="0">
                <a:solidFill>
                  <a:srgbClr val="63748A"/>
                </a:solidFill>
                <a:latin typeface="Calibri" pitchFamily="34" charset="0"/>
                <a:ea typeface="Calibri" pitchFamily="34" charset="-122"/>
                <a:cs typeface="Calibri" pitchFamily="34" charset="-120"/>
              </a:rPr>
              <a:t>ENRICHMENT OVER NULL</a:t>
            </a:r>
            <a:endParaRPr lang="en-US" sz="850" dirty="0"/>
          </a:p>
        </p:txBody>
      </p:sp>
      <p:sp>
        <p:nvSpPr>
          <p:cNvPr id="15" name="Text 13"/>
          <p:cNvSpPr/>
          <p:nvPr/>
        </p:nvSpPr>
        <p:spPr>
          <a:xfrm>
            <a:off x="8199120" y="1965960"/>
            <a:ext cx="3249168" cy="457200"/>
          </a:xfrm>
          <a:prstGeom prst="rect">
            <a:avLst/>
          </a:prstGeom>
          <a:noFill/>
          <a:ln/>
        </p:spPr>
        <p:txBody>
          <a:bodyPr wrap="square" lIns="0" tIns="0" rIns="0" bIns="0" rtlCol="0" anchor="ctr"/>
          <a:lstStyle/>
          <a:p>
            <a:pPr indent="0" marL="0">
              <a:lnSpc>
                <a:spcPts val="1200"/>
              </a:lnSpc>
              <a:buNone/>
            </a:pPr>
            <a:r>
              <a:rPr lang="en-US" sz="950" dirty="0">
                <a:solidFill>
                  <a:srgbClr val="63748A"/>
                </a:solidFill>
                <a:latin typeface="Calibri" pitchFamily="34" charset="0"/>
                <a:ea typeface="Calibri" pitchFamily="34" charset="-122"/>
                <a:cs typeface="Calibri" pitchFamily="34" charset="-120"/>
              </a:rPr>
              <a:t>real cores 24.8% vs shuffled-sequence null 0.9%</a:t>
            </a:r>
            <a:endParaRPr lang="en-US" sz="950" dirty="0"/>
          </a:p>
        </p:txBody>
      </p:sp>
      <p:sp>
        <p:nvSpPr>
          <p:cNvPr id="16" name="Text 14"/>
          <p:cNvSpPr/>
          <p:nvPr/>
        </p:nvSpPr>
        <p:spPr>
          <a:xfrm>
            <a:off x="566928" y="2834640"/>
            <a:ext cx="11027664" cy="1371600"/>
          </a:xfrm>
          <a:prstGeom prst="rect">
            <a:avLst/>
          </a:prstGeom>
          <a:noFill/>
          <a:ln/>
        </p:spPr>
        <p:txBody>
          <a:bodyPr wrap="square" lIns="0" tIns="0" rIns="0" bIns="0" rtlCol="0" anchor="ctr"/>
          <a:lstStyle/>
          <a:p>
            <a:pPr indent="0" marL="0">
              <a:lnSpc>
                <a:spcPts val="1700"/>
              </a:lnSpc>
              <a:buNone/>
            </a:pPr>
            <a:r>
              <a:rPr lang="en-US" sz="1300" b="1" dirty="0">
                <a:solidFill>
                  <a:srgbClr val="12212E"/>
                </a:solidFill>
                <a:latin typeface="Calibri" pitchFamily="34" charset="0"/>
                <a:ea typeface="Calibri" pitchFamily="34" charset="-122"/>
                <a:cs typeface="Calibri" pitchFamily="34" charset="-120"/>
              </a:rPr>
              <a:t>The threshold is validated, not asserted.
</a:t>
            </a:r>
            <a:pPr indent="0" marL="0">
              <a:lnSpc>
                <a:spcPts val="1700"/>
              </a:lnSpc>
              <a:buNone/>
            </a:pPr>
            <a:r>
              <a:rPr lang="en-US" sz="1200" dirty="0">
                <a:solidFill>
                  <a:srgbClr val="12212E"/>
                </a:solidFill>
                <a:latin typeface="Calibri" pitchFamily="34" charset="0"/>
                <a:ea typeface="Calibri" pitchFamily="34" charset="-122"/>
                <a:cs typeface="Calibri" pitchFamily="34" charset="-120"/>
              </a:rPr>
              <a:t>Re-running the identical screen on cores drawn from shuffled versions of the same sequences — same composition, no real self-similarity — gives 0.9% at the 8/9 cut against 24.8% for real cores. A 5-of-9 "TCR-face" screen, the obvious shortcut, was tried first and discarded: with only five positions specified it matches the human proteome by chance several times per query and flags nearly everything.</a:t>
            </a:r>
            <a:endParaRPr lang="en-US" sz="1300" dirty="0"/>
          </a:p>
        </p:txBody>
      </p:sp>
      <p:sp>
        <p:nvSpPr>
          <p:cNvPr id="17" name="Shape 15"/>
          <p:cNvSpPr/>
          <p:nvPr/>
        </p:nvSpPr>
        <p:spPr>
          <a:xfrm>
            <a:off x="566928" y="4343400"/>
            <a:ext cx="11027664" cy="868680"/>
          </a:xfrm>
          <a:prstGeom prst="roundRect">
            <a:avLst>
              <a:gd name="adj" fmla="val 6316"/>
            </a:avLst>
          </a:prstGeom>
          <a:solidFill>
            <a:srgbClr val="F2F6F9"/>
          </a:solidFill>
          <a:ln w="9525">
            <a:solidFill>
              <a:srgbClr val="DCE4EC"/>
            </a:solidFill>
            <a:prstDash val="solid"/>
          </a:ln>
        </p:spPr>
      </p:sp>
      <p:sp>
        <p:nvSpPr>
          <p:cNvPr id="18" name="Text 16"/>
          <p:cNvSpPr/>
          <p:nvPr/>
        </p:nvSpPr>
        <p:spPr>
          <a:xfrm>
            <a:off x="749808" y="4453128"/>
            <a:ext cx="10661904" cy="685800"/>
          </a:xfrm>
          <a:prstGeom prst="rect">
            <a:avLst/>
          </a:prstGeom>
          <a:noFill/>
          <a:ln/>
        </p:spPr>
        <p:txBody>
          <a:bodyPr wrap="square" lIns="0" tIns="0" rIns="0" bIns="0" rtlCol="0" anchor="ctr"/>
          <a:lstStyle/>
          <a:p>
            <a:pPr indent="0" marL="0">
              <a:lnSpc>
                <a:spcPts val="1600"/>
              </a:lnSpc>
              <a:buNone/>
            </a:pPr>
            <a:r>
              <a:rPr lang="en-US" sz="1200" dirty="0">
                <a:solidFill>
                  <a:srgbClr val="12212E"/>
                </a:solidFill>
                <a:latin typeface="Calibri" pitchFamily="34" charset="0"/>
                <a:ea typeface="Calibri" pitchFamily="34" charset="-122"/>
                <a:cs typeface="Calibri" pitchFamily="34" charset="-120"/>
              </a:rPr>
              <a:t>The filter discriminates rather than deletes: the human self controls lose up to 100% of their unfiltered score, while the test article loses 0%. Every flagged core is written out with the human protein it matched, so each call is checkable.</a:t>
            </a:r>
            <a:endParaRPr lang="en-US" sz="1200" dirty="0"/>
          </a:p>
        </p:txBody>
      </p:sp>
      <p:sp>
        <p:nvSpPr>
          <p:cNvPr id="19" name="Text 17"/>
          <p:cNvSpPr/>
          <p:nvPr/>
        </p:nvSpPr>
        <p:spPr>
          <a:xfrm>
            <a:off x="566928" y="5486400"/>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Reference: UniProt Swiss-Prot Homo sapiens. This is a screen, not JanusMatrix — it does not require the human counterpart to bind the same allele, so it errs toward calling more peptides tolerised.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4 · BOUNDARY CONTROLS</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Where the filter is wrong, measured</a:t>
            </a:r>
            <a:endParaRPr lang="en-US" sz="2700" dirty="0"/>
          </a:p>
        </p:txBody>
      </p:sp>
      <p:sp>
        <p:nvSpPr>
          <p:cNvPr id="4" name="Text 2"/>
          <p:cNvSpPr/>
          <p:nvPr/>
        </p:nvSpPr>
        <p:spPr>
          <a:xfrm>
            <a:off x="566928" y="1170432"/>
            <a:ext cx="11027664" cy="457200"/>
          </a:xfrm>
          <a:prstGeom prst="rect">
            <a:avLst/>
          </a:prstGeom>
          <a:noFill/>
          <a:ln/>
        </p:spPr>
        <p:txBody>
          <a:bodyPr wrap="square" lIns="0" tIns="0" rIns="0" bIns="0" rtlCol="0" anchor="ctr"/>
          <a:lstStyle/>
          <a:p>
            <a:pPr indent="0" marL="0">
              <a:lnSpc>
                <a:spcPts val="1600"/>
              </a:lnSpc>
              <a:buNone/>
            </a:pPr>
            <a:r>
              <a:rPr lang="en-US" sz="1200" dirty="0">
                <a:solidFill>
                  <a:srgbClr val="12212E"/>
                </a:solidFill>
                <a:latin typeface="Calibri" pitchFamily="34" charset="0"/>
                <a:ea typeface="Calibri" pitchFamily="34" charset="-122"/>
                <a:cs typeface="Calibri" pitchFamily="34" charset="-120"/>
              </a:rPr>
              <a:t>The filter's rule is “self implies tolerated”. That is right often enough to be worth applying and wrong often enough to be worth measuring, so the batch carries two controls that sit on the boundary.</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27664" cy="914400"/>
        </p:xfrm>
        <a:graphic>
          <a:graphicData uri="http://schemas.openxmlformats.org/drawingml/2006/table">
            <a:tbl>
              <a:tblPr/>
              <a:tblGrid>
                <a:gridCol w="2286000"/>
                <a:gridCol w="2011680"/>
                <a:gridCol w="1371600"/>
                <a:gridCol w="914400"/>
                <a:gridCol w="1463040"/>
                <a:gridCol w="1463040"/>
                <a:gridCol w="1517904"/>
              </a:tblGrid>
              <a:tr h="347472">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Control</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Role</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DR at %Rank&lt;1</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at &lt;5</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Cores tolerised</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pIRS unfiltered</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pIRS filtered</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347472">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MBP_85_99</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C9752B"/>
                          </a:solidFill>
                          <a:latin typeface="Calibri" pitchFamily="34" charset="0"/>
                          <a:ea typeface="Calibri" pitchFamily="34" charset="-122"/>
                          <a:cs typeface="Calibri" pitchFamily="34" charset="-120"/>
                        </a:rPr>
                        <a:t>self immunogenic control</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10/25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20/25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1.19</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47472">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CLIP_87_101</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C9752B"/>
                          </a:solidFill>
                          <a:latin typeface="Calibri" pitchFamily="34" charset="0"/>
                          <a:ea typeface="Calibri" pitchFamily="34" charset="-122"/>
                          <a:cs typeface="Calibri" pitchFamily="34" charset="-120"/>
                        </a:rPr>
                        <a:t>tolerised binder control</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1/25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7/25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
        <p:nvSpPr>
          <p:cNvPr id="6" name="Shape 3"/>
          <p:cNvSpPr/>
          <p:nvPr/>
        </p:nvSpPr>
        <p:spPr>
          <a:xfrm>
            <a:off x="566928" y="3017520"/>
            <a:ext cx="11027664" cy="1783080"/>
          </a:xfrm>
          <a:prstGeom prst="roundRect">
            <a:avLst>
              <a:gd name="adj" fmla="val 3077"/>
            </a:avLst>
          </a:prstGeom>
          <a:solidFill>
            <a:srgbClr val="FBF1F1"/>
          </a:solidFill>
          <a:ln w="9525">
            <a:solidFill>
              <a:srgbClr val="E8CDCD"/>
            </a:solidFill>
            <a:prstDash val="solid"/>
          </a:ln>
        </p:spPr>
      </p:sp>
      <p:sp>
        <p:nvSpPr>
          <p:cNvPr id="7" name="Text 4"/>
          <p:cNvSpPr/>
          <p:nvPr/>
        </p:nvSpPr>
        <p:spPr>
          <a:xfrm>
            <a:off x="768096" y="3127248"/>
            <a:ext cx="10625328" cy="1572768"/>
          </a:xfrm>
          <a:prstGeom prst="rect">
            <a:avLst/>
          </a:prstGeom>
          <a:noFill/>
          <a:ln/>
        </p:spPr>
        <p:txBody>
          <a:bodyPr wrap="square" lIns="0" tIns="0" rIns="0" bIns="0" rtlCol="0" anchor="ctr"/>
          <a:lstStyle/>
          <a:p>
            <a:pPr indent="0" marL="0">
              <a:lnSpc>
                <a:spcPts val="1400"/>
              </a:lnSpc>
              <a:buNone/>
            </a:pPr>
            <a:r>
              <a:rPr lang="en-US" sz="1100" b="1" dirty="0">
                <a:solidFill>
                  <a:srgbClr val="B23B3B"/>
                </a:solidFill>
                <a:latin typeface="Calibri" pitchFamily="34" charset="0"/>
                <a:ea typeface="Calibri" pitchFamily="34" charset="-122"/>
                <a:cs typeface="Calibri" pitchFamily="34" charset="-120"/>
              </a:rPr>
              <a:t>The filter suppresses a real epitope, and this is the clearest example.
</a:t>
            </a:r>
            <a:pPr indent="0" marL="0">
              <a:lnSpc>
                <a:spcPts val="1400"/>
              </a:lnSpc>
              <a:buNone/>
            </a:pPr>
            <a:r>
              <a:rPr lang="en-US" sz="1100" dirty="0">
                <a:solidFill>
                  <a:srgbClr val="12212E"/>
                </a:solidFill>
                <a:latin typeface="Calibri" pitchFamily="34" charset="0"/>
                <a:ea typeface="Calibri" pitchFamily="34" charset="-122"/>
                <a:cs typeface="Calibri" pitchFamily="34" charset="-120"/>
              </a:rPr>
              <a:t>Myelin basic protein 85–99 is a human self peptide with positive DR-restricted T-cell assays on 10 distinct DR molecules in IEDB. On this panel it is the broadest binder in the entire batch — 10/25 DR molecules at the strong-binder tier, unfiltered pIRS 1.19, higher than any ligand here. The tolerance filter takes it to 0.00.</a:t>
            </a:r>
            <a:endParaRPr lang="en-US" sz="1100" dirty="0"/>
          </a:p>
          <a:p>
            <a:pPr indent="0" marL="0">
              <a:lnSpc>
                <a:spcPts val="1400"/>
              </a:lnSpc>
              <a:buNone/>
            </a:pPr>
            <a:endParaRPr lang="en-US" sz="1100" dirty="0"/>
          </a:p>
          <a:p>
            <a:pPr indent="0" marL="0">
              <a:lnSpc>
                <a:spcPts val="1400"/>
              </a:lnSpc>
              <a:buNone/>
            </a:pPr>
            <a:r>
              <a:rPr lang="en-US" sz="1100" dirty="0">
                <a:solidFill>
                  <a:srgbClr val="12212E"/>
                </a:solidFill>
                <a:latin typeface="Calibri" pitchFamily="34" charset="0"/>
                <a:ea typeface="Calibri" pitchFamily="34" charset="-122"/>
                <a:cs typeface="Calibri" pitchFamily="34" charset="-120"/>
              </a:rPr>
              <a:t>That is the filter working as designed and being wrong. Self-derived epitopes exist — autoimmunity is what they are — and a sequence-identity filter cannot see the difference. It is safe for an affinity ligand because a foreign scaffold's framework similarity to human germline is the case it was built for; it is not safe for anything where self-reactivity is the question.</a:t>
            </a:r>
            <a:endParaRPr lang="en-US" sz="1100" dirty="0"/>
          </a:p>
        </p:txBody>
      </p:sp>
      <p:sp>
        <p:nvSpPr>
          <p:cNvPr id="8" name="Text 5"/>
          <p:cNvSpPr/>
          <p:nvPr/>
        </p:nvSpPr>
        <p:spPr>
          <a:xfrm>
            <a:off x="566928" y="4956048"/>
            <a:ext cx="11027664" cy="658368"/>
          </a:xfrm>
          <a:prstGeom prst="rect">
            <a:avLst/>
          </a:prstGeom>
          <a:noFill/>
          <a:ln/>
        </p:spPr>
        <p:txBody>
          <a:bodyPr wrap="square" lIns="0" tIns="0" rIns="0" bIns="0" rtlCol="0" anchor="ctr"/>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The opposite control behaves too. CLIP occupies the groove of essentially every DR molecule as the invariant chain's placeholder, yet carries no positive human DR T-cell record in IEDB. Here it reaches 7/25 at the weak tier and 1/25 at the strong tier, and ends at pIRS 0.00 — binding strength alone is not being read as risk.</a:t>
            </a:r>
            <a:endParaRPr lang="en-US" sz="1150" dirty="0"/>
          </a:p>
        </p:txBody>
      </p:sp>
      <p:sp>
        <p:nvSpPr>
          <p:cNvPr id="9" name="Text 6"/>
          <p:cNvSpPr/>
          <p:nvPr/>
        </p:nvSpPr>
        <p:spPr>
          <a:xfrm>
            <a:off x="566928" y="5897880"/>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Both controls' roles were checked against IEDB before assignment. They do not pass or fail the batch — they put a number on two things the filter cannot do.</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MODULES 10–11 · MEASURED ACCURACY</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Does the rule actually work?</a:t>
            </a:r>
            <a:endParaRPr lang="en-US" sz="2700" dirty="0"/>
          </a:p>
        </p:txBody>
      </p:sp>
      <p:sp>
        <p:nvSpPr>
          <p:cNvPr id="4" name="Text 2"/>
          <p:cNvSpPr/>
          <p:nvPr/>
        </p:nvSpPr>
        <p:spPr>
          <a:xfrm>
            <a:off x="566928" y="1133856"/>
            <a:ext cx="11027664" cy="685800"/>
          </a:xfrm>
          <a:prstGeom prst="rect">
            <a:avLst/>
          </a:prstGeom>
          <a:noFill/>
          <a:ln/>
        </p:spPr>
        <p:txBody>
          <a:bodyPr wrap="square" lIns="0" tIns="0" rIns="0" bIns="0" rtlCol="0" anchor="ctr"/>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Every choice above this point was made by argument. The EL+BA consensus entered the pipeline because eluted-ligand scoring over-calls — a reasonable argument and no evidence. So the rule was scored against ground truth: every HLA-DR-restricted CD4 T-cell assay result IEDB holds for these 5,795 peptide-allele pairs, in human hosts.</a:t>
            </a:r>
            <a:endParaRPr lang="en-US" sz="1150" dirty="0"/>
          </a:p>
        </p:txBody>
      </p:sp>
      <p:pic>
        <p:nvPicPr>
          <p:cNvPr id="5" name="Image 0" descr="/home/user/ClaudeCode/hla_ligand_immunogenicity/figures/fig6_calibration.png">    </p:cNvPr>
          <p:cNvPicPr>
            <a:picLocks noChangeAspect="1"/>
          </p:cNvPicPr>
          <p:nvPr/>
        </p:nvPicPr>
        <p:blipFill>
          <a:blip r:embed="rId1"/>
          <a:stretch>
            <a:fillRect/>
          </a:stretch>
        </p:blipFill>
        <p:spPr>
          <a:xfrm>
            <a:off x="566928" y="1883664"/>
            <a:ext cx="6858000" cy="2788920"/>
          </a:xfrm>
          <a:prstGeom prst="rect">
            <a:avLst/>
          </a:prstGeom>
        </p:spPr>
      </p:pic>
      <p:sp>
        <p:nvSpPr>
          <p:cNvPr id="6" name="Text 3"/>
          <p:cNvSpPr/>
          <p:nvPr/>
        </p:nvSpPr>
        <p:spPr>
          <a:xfrm>
            <a:off x="7699248" y="1883664"/>
            <a:ext cx="3895344" cy="868680"/>
          </a:xfrm>
          <a:prstGeom prst="rect">
            <a:avLst/>
          </a:prstGeom>
          <a:noFill/>
          <a:ln/>
        </p:spPr>
        <p:txBody>
          <a:bodyPr wrap="square" lIns="0" tIns="0" rIns="0" bIns="0" rtlCol="0" anchor="ctr"/>
          <a:lstStyle/>
          <a:p>
            <a:pPr indent="0" marL="0">
              <a:lnSpc>
                <a:spcPts val="1300"/>
              </a:lnSpc>
              <a:buNone/>
            </a:pPr>
            <a:r>
              <a:rPr lang="en-US" sz="1050" b="1" dirty="0">
                <a:solidFill>
                  <a:srgbClr val="2F6F9F"/>
                </a:solidFill>
                <a:latin typeface="Calibri" pitchFamily="34" charset="0"/>
                <a:ea typeface="Calibri" pitchFamily="34" charset="-122"/>
                <a:cs typeface="Calibri" pitchFamily="34" charset="-120"/>
              </a:rPr>
              <a:t>9,647 labelled outcomes
</a:t>
            </a:r>
            <a:pPr indent="0" marL="0">
              <a:lnSpc>
                <a:spcPts val="1300"/>
              </a:lnSpc>
              <a:buNone/>
            </a:pPr>
            <a:r>
              <a:rPr lang="en-US" sz="1050" dirty="0">
                <a:solidFill>
                  <a:srgbClr val="12212E"/>
                </a:solidFill>
                <a:latin typeface="Calibri" pitchFamily="34" charset="0"/>
                <a:ea typeface="Calibri" pitchFamily="34" charset="-122"/>
                <a:cs typeface="Calibri" pitchFamily="34" charset="-120"/>
              </a:rPr>
              <a:t>5,858 positive / 3,789 negative pairs in 2,767 9-mer clusters, so overlapping peptides from one study count once</a:t>
            </a:r>
            <a:endParaRPr lang="en-US" sz="1050" dirty="0"/>
          </a:p>
        </p:txBody>
      </p:sp>
      <p:sp>
        <p:nvSpPr>
          <p:cNvPr id="7" name="Text 4"/>
          <p:cNvSpPr/>
          <p:nvPr/>
        </p:nvSpPr>
        <p:spPr>
          <a:xfrm>
            <a:off x="7699248" y="2633472"/>
            <a:ext cx="3895344" cy="868680"/>
          </a:xfrm>
          <a:prstGeom prst="rect">
            <a:avLst/>
          </a:prstGeom>
          <a:noFill/>
          <a:ln/>
        </p:spPr>
        <p:txBody>
          <a:bodyPr wrap="square" lIns="0" tIns="0" rIns="0" bIns="0" rtlCol="0" anchor="ctr"/>
          <a:lstStyle/>
          <a:p>
            <a:pPr indent="0" marL="0">
              <a:lnSpc>
                <a:spcPts val="1300"/>
              </a:lnSpc>
              <a:buNone/>
            </a:pPr>
            <a:r>
              <a:rPr lang="en-US" sz="1050" b="1" dirty="0">
                <a:solidFill>
                  <a:srgbClr val="2F6F9F"/>
                </a:solidFill>
                <a:latin typeface="Calibri" pitchFamily="34" charset="0"/>
                <a:ea typeface="Calibri" pitchFamily="34" charset="-122"/>
                <a:cs typeface="Calibri" pitchFamily="34" charset="-120"/>
              </a:rPr>
              <a:t>Best rule: GEO, AUC 0.664
</a:t>
            </a:r>
            <a:pPr indent="0" marL="0">
              <a:lnSpc>
                <a:spcPts val="1300"/>
              </a:lnSpc>
              <a:buNone/>
            </a:pPr>
            <a:r>
              <a:rPr lang="en-US" sz="1050" dirty="0">
                <a:solidFill>
                  <a:srgbClr val="12212E"/>
                </a:solidFill>
                <a:latin typeface="Calibri" pitchFamily="34" charset="0"/>
                <a:ea typeface="Calibri" pitchFamily="34" charset="-122"/>
                <a:cs typeface="Calibri" pitchFamily="34" charset="-120"/>
              </a:rPr>
              <a:t>against 0.652 for eluted-ligand scoring alone; paired cluster bootstrap puts the difference at +0.0125, 95% CI [-0.0007, 0.0246]</a:t>
            </a:r>
            <a:endParaRPr lang="en-US" sz="1050" dirty="0"/>
          </a:p>
        </p:txBody>
      </p:sp>
      <p:sp>
        <p:nvSpPr>
          <p:cNvPr id="8" name="Text 5"/>
          <p:cNvSpPr/>
          <p:nvPr/>
        </p:nvSpPr>
        <p:spPr>
          <a:xfrm>
            <a:off x="7699248" y="3383280"/>
            <a:ext cx="3895344" cy="868680"/>
          </a:xfrm>
          <a:prstGeom prst="rect">
            <a:avLst/>
          </a:prstGeom>
          <a:noFill/>
          <a:ln/>
        </p:spPr>
        <p:txBody>
          <a:bodyPr wrap="square" lIns="0" tIns="0" rIns="0" bIns="0" rtlCol="0" anchor="ctr"/>
          <a:lstStyle/>
          <a:p>
            <a:pPr indent="0" marL="0">
              <a:lnSpc>
                <a:spcPts val="1300"/>
              </a:lnSpc>
              <a:buNone/>
            </a:pPr>
            <a:r>
              <a:rPr lang="en-US" sz="1050" b="1" dirty="0">
                <a:solidFill>
                  <a:srgbClr val="2F6F9F"/>
                </a:solidFill>
                <a:latin typeface="Calibri" pitchFamily="34" charset="0"/>
                <a:ea typeface="Calibri" pitchFamily="34" charset="-122"/>
                <a:cs typeface="Calibri" pitchFamily="34" charset="-120"/>
              </a:rPr>
              <a:t>Calibrated cut: %Rank &lt; 5.89
</a:t>
            </a:r>
            <a:pPr indent="0" marL="0">
              <a:lnSpc>
                <a:spcPts val="1300"/>
              </a:lnSpc>
              <a:buNone/>
            </a:pPr>
            <a:r>
              <a:rPr lang="en-US" sz="1050" dirty="0">
                <a:solidFill>
                  <a:srgbClr val="12212E"/>
                </a:solidFill>
                <a:latin typeface="Calibri" pitchFamily="34" charset="0"/>
                <a:ea typeface="Calibri" pitchFamily="34" charset="-122"/>
                <a:cs typeface="Calibri" pitchFamily="34" charset="-120"/>
              </a:rPr>
              <a:t>45% / 79%, MCC 0.259</a:t>
            </a:r>
            <a:endParaRPr lang="en-US" sz="1050" dirty="0"/>
          </a:p>
        </p:txBody>
      </p:sp>
      <p:sp>
        <p:nvSpPr>
          <p:cNvPr id="9" name="Shape 6"/>
          <p:cNvSpPr/>
          <p:nvPr/>
        </p:nvSpPr>
        <p:spPr>
          <a:xfrm>
            <a:off x="566928" y="4709160"/>
            <a:ext cx="11027664" cy="1051560"/>
          </a:xfrm>
          <a:prstGeom prst="roundRect">
            <a:avLst>
              <a:gd name="adj" fmla="val 5217"/>
            </a:avLst>
          </a:prstGeom>
          <a:solidFill>
            <a:srgbClr val="F2F6F9"/>
          </a:solidFill>
          <a:ln w="9525">
            <a:solidFill>
              <a:srgbClr val="DCE4EC"/>
            </a:solidFill>
            <a:prstDash val="solid"/>
          </a:ln>
        </p:spPr>
      </p:sp>
      <p:sp>
        <p:nvSpPr>
          <p:cNvPr id="10" name="Text 7"/>
          <p:cNvSpPr/>
          <p:nvPr/>
        </p:nvSpPr>
        <p:spPr>
          <a:xfrm>
            <a:off x="768096" y="4828032"/>
            <a:ext cx="10625328" cy="868680"/>
          </a:xfrm>
          <a:prstGeom prst="rect">
            <a:avLst/>
          </a:prstGeom>
          <a:noFill/>
          <a:ln/>
        </p:spPr>
        <p:txBody>
          <a:bodyPr wrap="square" lIns="0" tIns="0" rIns="0" bIns="0" rtlCol="0" anchor="ctr"/>
          <a:lstStyle/>
          <a:p>
            <a:pPr indent="0" marL="0">
              <a:lnSpc>
                <a:spcPts val="1300"/>
              </a:lnSpc>
              <a:buNone/>
            </a:pPr>
            <a:r>
              <a:rPr lang="en-US" sz="1050" b="1" dirty="0">
                <a:solidFill>
                  <a:srgbClr val="12212E"/>
                </a:solidFill>
                <a:latin typeface="Calibri" pitchFamily="34" charset="0"/>
                <a:ea typeface="Calibri" pitchFamily="34" charset="-122"/>
                <a:cs typeface="Calibri" pitchFamily="34" charset="-120"/>
              </a:rPr>
              <a:t>Read the absolute numbers as an upper bound.  </a:t>
            </a:r>
            <a:pPr indent="0" marL="0">
              <a:lnSpc>
                <a:spcPts val="1300"/>
              </a:lnSpc>
              <a:buNone/>
            </a:pPr>
            <a:r>
              <a:rPr lang="en-US" sz="1050" dirty="0">
                <a:solidFill>
                  <a:srgbClr val="12212E"/>
                </a:solidFill>
                <a:latin typeface="Calibri" pitchFamily="34" charset="0"/>
                <a:ea typeface="Calibri" pitchFamily="34" charset="-122"/>
                <a:cs typeface="Calibri" pitchFamily="34" charset="-120"/>
              </a:rPr>
              <a:t>NetMHCIIpan is trained on IEDB binding and mass-spec data; the labels here are T-cell assay outcomes, a different endpoint, but partial training-set overlap is certain and cannot be excluded from outside. The comparison between rules is far more robust — every rule uses the same possibly-leaky predictors on the same peptides, so leakage inflates them together and largely cancels in the difference.</a:t>
            </a:r>
            <a:endParaRPr lang="en-US" sz="1050" dirty="0"/>
          </a:p>
        </p:txBody>
      </p:sp>
      <p:sp>
        <p:nvSpPr>
          <p:cNvPr id="11" name="Text 8"/>
          <p:cNvSpPr/>
          <p:nvPr/>
        </p:nvSpPr>
        <p:spPr>
          <a:xfrm>
            <a:off x="566928" y="5943600"/>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IEDB's negatives carry their own bias: a peptide tested and found negative in one donor set is not a clean non-binder, which inflates apparent specificity.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13 · THE LAST SPECIFICITY LEVER</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Does breadth beat the best single rank?</a:t>
            </a:r>
            <a:endParaRPr lang="en-US" sz="2700" dirty="0"/>
          </a:p>
        </p:txBody>
      </p:sp>
      <p:sp>
        <p:nvSpPr>
          <p:cNvPr id="4" name="Text 2"/>
          <p:cNvSpPr/>
          <p:nvPr/>
        </p:nvSpPr>
        <p:spPr>
          <a:xfrm>
            <a:off x="566928" y="1060704"/>
            <a:ext cx="11027664" cy="457200"/>
          </a:xfrm>
          <a:prstGeom prst="rect">
            <a:avLst/>
          </a:prstGeom>
          <a:noFill/>
          <a:ln/>
        </p:spPr>
        <p:txBody>
          <a:bodyPr wrap="square" lIns="0" tIns="0" rIns="0" bIns="0" rtlCol="0" anchor="ctr"/>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Each of the 1,200 benchmark peptides was scored against all 25 panel molecules, so “broadly presented” could be tested as a decision rule against “best single-allele %Rank” — one peptide per 9-mer cluster, paired cluster bootstrap on the AUC difference.</a:t>
            </a:r>
            <a:endParaRPr lang="en-US" sz="1150" dirty="0"/>
          </a:p>
        </p:txBody>
      </p:sp>
      <p:pic>
        <p:nvPicPr>
          <p:cNvPr id="5" name="Image 0" descr="/home/user/ClaudeCode/hla_ligand_immunogenicity/figures/fig7_promiscuity.png">    </p:cNvPr>
          <p:cNvPicPr>
            <a:picLocks noChangeAspect="1"/>
          </p:cNvPicPr>
          <p:nvPr/>
        </p:nvPicPr>
        <p:blipFill>
          <a:blip r:embed="rId1"/>
          <a:stretch>
            <a:fillRect/>
          </a:stretch>
        </p:blipFill>
        <p:spPr>
          <a:xfrm>
            <a:off x="786384" y="1591056"/>
            <a:ext cx="10588752" cy="3977640"/>
          </a:xfrm>
          <a:prstGeom prst="rect">
            <a:avLst/>
          </a:prstGeom>
        </p:spPr>
      </p:pic>
      <p:sp>
        <p:nvSpPr>
          <p:cNvPr id="6" name="Shape 3"/>
          <p:cNvSpPr/>
          <p:nvPr/>
        </p:nvSpPr>
        <p:spPr>
          <a:xfrm>
            <a:off x="566928" y="5614416"/>
            <a:ext cx="11027664" cy="896112"/>
          </a:xfrm>
          <a:prstGeom prst="roundRect">
            <a:avLst>
              <a:gd name="adj" fmla="val 6122"/>
            </a:avLst>
          </a:prstGeom>
          <a:solidFill>
            <a:srgbClr val="F2F6F9"/>
          </a:solidFill>
          <a:ln w="9525">
            <a:solidFill>
              <a:srgbClr val="DCE4EC"/>
            </a:solidFill>
            <a:prstDash val="solid"/>
          </a:ln>
        </p:spPr>
      </p:sp>
      <p:sp>
        <p:nvSpPr>
          <p:cNvPr id="7" name="Text 4"/>
          <p:cNvSpPr/>
          <p:nvPr/>
        </p:nvSpPr>
        <p:spPr>
          <a:xfrm>
            <a:off x="768096" y="5687568"/>
            <a:ext cx="10625328" cy="749808"/>
          </a:xfrm>
          <a:prstGeom prst="rect">
            <a:avLst/>
          </a:prstGeom>
          <a:noFill/>
          <a:ln/>
        </p:spPr>
        <p:txBody>
          <a:bodyPr wrap="square" lIns="0" tIns="0" rIns="0" bIns="0" rtlCol="0" anchor="ctr"/>
          <a:lstStyle/>
          <a:p>
            <a:pPr indent="0" marL="0">
              <a:lnSpc>
                <a:spcPts val="1100"/>
              </a:lnSpc>
              <a:buNone/>
            </a:pPr>
            <a:r>
              <a:rPr lang="en-US" sz="900" b="1" dirty="0">
                <a:solidFill>
                  <a:srgbClr val="B23B3B"/>
                </a:solidFill>
                <a:latin typeface="Calibri" pitchFamily="34" charset="0"/>
                <a:ea typeface="Calibri" pitchFamily="34" charset="-122"/>
                <a:cs typeface="Calibri" pitchFamily="34" charset="-120"/>
              </a:rPr>
              <a:t>The lever does not exist.  </a:t>
            </a:r>
            <a:pPr indent="0" marL="0">
              <a:lnSpc>
                <a:spcPts val="1100"/>
              </a:lnSpc>
              <a:buNone/>
            </a:pPr>
            <a:r>
              <a:rPr lang="en-US" sz="900" dirty="0">
                <a:solidFill>
                  <a:srgbClr val="12212E"/>
                </a:solidFill>
                <a:latin typeface="Calibri" pitchFamily="34" charset="0"/>
                <a:ea typeface="Calibri" pitchFamily="34" charset="-122"/>
                <a:cs typeface="Calibri" pitchFamily="34" charset="-120"/>
              </a:rPr>
              <a:t>Breadth at %Rank &lt; 1 is worth +0.0005 AUC against the best single rank, 95% CI [−0.0156, +0.0169]; population-weighted presentation +0.0013, [−0.0197, +0.0221]. In the 1,069 peptides tested on exactly one molecule — the only stratum where breadth cannot be inflated by how many molecules IEDB happened to test — it is still flat (+0.0054, [−0.0113, +0.0221]), and in the 131 multi-allele peptides it is significantly worse (−0.0877, [−0.1599, −0.0145]). Test count alone reaches AUC 0.575 — higher than any sequence-derived predictor here — with the positive rate climbing 46% → 80% → 96% across 1, 2 and 3 molecules tested. That is ascertainment, not biology. The pipeline keeps flagging per molecule on %Rank and keeps population weighting as an aggregation, not a criterion.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MODULES 5–6 · SCORING</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Calibrated against benchmarks and controls in the same batch</a:t>
            </a:r>
            <a:endParaRPr lang="en-US" sz="2700" dirty="0"/>
          </a:p>
        </p:txBody>
      </p:sp>
      <p:pic>
        <p:nvPicPr>
          <p:cNvPr id="4" name="Image 0" descr="/home/user/ClaudeCode/hla_ligand_immunogenicity/figures/fig3_calibrated_ranking.png">    </p:cNvPr>
          <p:cNvPicPr>
            <a:picLocks noChangeAspect="1"/>
          </p:cNvPicPr>
          <p:nvPr/>
        </p:nvPicPr>
        <p:blipFill>
          <a:blip r:embed="rId1"/>
          <a:stretch>
            <a:fillRect/>
          </a:stretch>
        </p:blipFill>
        <p:spPr>
          <a:xfrm>
            <a:off x="566928" y="1097280"/>
            <a:ext cx="11027664" cy="356616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4800600"/>
          <a:ext cx="11027664" cy="914400"/>
        </p:xfrm>
        <a:graphic>
          <a:graphicData uri="http://schemas.openxmlformats.org/drawingml/2006/table">
            <a:tbl>
              <a:tblPr/>
              <a:tblGrid>
                <a:gridCol w="3108960"/>
                <a:gridCol w="7095744"/>
                <a:gridCol w="822960"/>
              </a:tblGrid>
              <a:tr h="310896">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System suitability check</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Observed</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310896">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universal epitopes detected with multi-allele breadth</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3B4A5A"/>
                          </a:solidFill>
                          <a:latin typeface="Calibri" pitchFamily="34" charset="0"/>
                          <a:ea typeface="Calibri" pitchFamily="34" charset="-122"/>
                          <a:cs typeface="Calibri" pitchFamily="34" charset="-120"/>
                        </a:rPr>
                        <a:t>HA_306_318_region 8/25 DR at %Rank&lt;5 (2 at &lt;1, best 0.46); TT_p2_region 15/25 DR at %Rank&lt;5 (6 at &lt;1, best 0.06); TT_p30_region 5/25 DR at %Rank&lt;5 (2 at &lt;1, best 0.64)</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b="1" dirty="0">
                          <a:solidFill>
                            <a:srgbClr val="3D8A6B"/>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self controls suppressed by tolerance filter</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3B4A5A"/>
                          </a:solidFill>
                          <a:latin typeface="Calibri" pitchFamily="34" charset="0"/>
                          <a:ea typeface="Calibri" pitchFamily="34" charset="-122"/>
                          <a:cs typeface="Calibri" pitchFamily="34" charset="-120"/>
                        </a:rPr>
                        <a:t>HumanVH3_23_germline pIRS 0.00 (raw 0.37); HSA_D1 pIRS 0.00 (raw 0.13)</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b="1" dirty="0">
                          <a:solidFill>
                            <a:srgbClr val="3D8A6B"/>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tolerance filter discriminates self from foreign</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3B4A5A"/>
                          </a:solidFill>
                          <a:latin typeface="Calibri" pitchFamily="34" charset="0"/>
                          <a:ea typeface="Calibri" pitchFamily="34" charset="-122"/>
                          <a:cs typeface="Calibri" pitchFamily="34" charset="-120"/>
                        </a:rPr>
                        <a:t>mean score drop: self 100.0% vs ligands 9.0%</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b="1" dirty="0">
                          <a:solidFill>
                            <a:srgbClr val="3D8A6B"/>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benchmark anchor scored</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3B4A5A"/>
                          </a:solidFill>
                          <a:latin typeface="Calibri" pitchFamily="34" charset="0"/>
                          <a:ea typeface="Calibri" pitchFamily="34" charset="-122"/>
                          <a:cs typeface="Calibri" pitchFamily="34" charset="-120"/>
                        </a:rPr>
                        <a:t>ProteinA_Z pIRS 0.45</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b="1" dirty="0">
                          <a:solidFill>
                            <a:srgbClr val="3D8A6B"/>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5 · EPITOPE CLUSTERS</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Where the risk actually sits</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188720"/>
          <a:ext cx="11027664" cy="914400"/>
        </p:xfrm>
        <a:graphic>
          <a:graphicData uri="http://schemas.openxmlformats.org/drawingml/2006/table">
            <a:tbl>
              <a:tblPr/>
              <a:tblGrid>
                <a:gridCol w="548640"/>
                <a:gridCol w="548640"/>
                <a:gridCol w="1143000"/>
                <a:gridCol w="1783080"/>
                <a:gridCol w="868680"/>
                <a:gridCol w="1143000"/>
                <a:gridCol w="1463040"/>
                <a:gridCol w="1700784"/>
              </a:tblGrid>
              <a:tr h="310896">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From</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To</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Core</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Peak 15-mer</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EL %Rank</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DR molecules</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 US/EU presenting</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Class</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310896">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FRQAPGKER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ourier New" pitchFamily="34" charset="0"/>
                          <a:ea typeface="Courier New" pitchFamily="34" charset="-122"/>
                          <a:cs typeface="Courier New" pitchFamily="34" charset="-120"/>
                        </a:rPr>
                        <a:t>MGWFRQAPGKEREFV</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0.13</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1/25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0.0%</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B23B3B"/>
                          </a:solidFill>
                          <a:latin typeface="Calibri" pitchFamily="34" charset="0"/>
                          <a:ea typeface="Calibri" pitchFamily="34" charset="-122"/>
                          <a:cs typeface="Calibri" pitchFamily="34" charset="-120"/>
                        </a:rPr>
                        <a:t>foreign</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47</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56</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FVAVQDITA</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ourier New" pitchFamily="34" charset="0"/>
                          <a:ea typeface="Courier New" pitchFamily="34" charset="-122"/>
                          <a:cs typeface="Courier New" pitchFamily="34" charset="-120"/>
                        </a:rPr>
                        <a:t>KEREFVAVQDITASN</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0.01</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8/25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39.6%</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B23B3B"/>
                          </a:solidFill>
                          <a:latin typeface="Calibri" pitchFamily="34" charset="0"/>
                          <a:ea typeface="Calibri" pitchFamily="34" charset="-122"/>
                          <a:cs typeface="Calibri" pitchFamily="34" charset="-120"/>
                        </a:rPr>
                        <a:t>foreign</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68</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76</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FTLSRDNAK</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ourier New" pitchFamily="34" charset="0"/>
                          <a:ea typeface="Courier New" pitchFamily="34" charset="-122"/>
                          <a:cs typeface="Courier New" pitchFamily="34" charset="-120"/>
                        </a:rPr>
                        <a:t>KGRFTLSRDNAKNTA</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0.46</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1/25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0.0%</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3D8A6B"/>
                          </a:solidFill>
                          <a:latin typeface="Calibri" pitchFamily="34" charset="0"/>
                          <a:ea typeface="Calibri" pitchFamily="34" charset="-122"/>
                          <a:cs typeface="Calibri" pitchFamily="34" charset="-120"/>
                        </a:rPr>
                        <a:t>all tolerised</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YLQMNNLKP</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ourier New" pitchFamily="34" charset="0"/>
                          <a:ea typeface="Courier New" pitchFamily="34" charset="-122"/>
                          <a:cs typeface="Courier New" pitchFamily="34" charset="-120"/>
                        </a:rPr>
                        <a:t>NTAYLQMNNLKPEDT</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0.23</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3/25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19.7%</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B23B3B"/>
                          </a:solidFill>
                          <a:latin typeface="Calibri" pitchFamily="34" charset="0"/>
                          <a:ea typeface="Calibri" pitchFamily="34" charset="-122"/>
                          <a:cs typeface="Calibri" pitchFamily="34" charset="-120"/>
                        </a:rPr>
                        <a:t>foreign</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
        <p:nvSpPr>
          <p:cNvPr id="5" name="Text 2"/>
          <p:cNvSpPr/>
          <p:nvPr/>
        </p:nvSpPr>
        <p:spPr>
          <a:xfrm>
            <a:off x="566928" y="2770632"/>
            <a:ext cx="5486400" cy="256032"/>
          </a:xfrm>
          <a:prstGeom prst="rect">
            <a:avLst/>
          </a:prstGeom>
          <a:noFill/>
          <a:ln/>
        </p:spPr>
        <p:txBody>
          <a:bodyPr wrap="square" lIns="0" tIns="0" rIns="0" bIns="0" rtlCol="0" anchor="ctr"/>
          <a:lstStyle/>
          <a:p>
            <a:pPr indent="0" marL="0">
              <a:buNone/>
            </a:pPr>
            <a:r>
              <a:rPr lang="en-US" sz="1300" b="1" dirty="0">
                <a:solidFill>
                  <a:srgbClr val="12212E"/>
                </a:solidFill>
                <a:latin typeface="Cambria" pitchFamily="34" charset="0"/>
                <a:ea typeface="Cambria" pitchFamily="34" charset="-122"/>
                <a:cs typeface="Cambria" pitchFamily="34" charset="-120"/>
              </a:rPr>
              <a:t>Top epitopes by promiscuity</a:t>
            </a:r>
            <a:endParaRPr lang="en-US" sz="1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66928" y="3063240"/>
          <a:ext cx="11027664" cy="914400"/>
        </p:xfrm>
        <a:graphic>
          <a:graphicData uri="http://schemas.openxmlformats.org/drawingml/2006/table">
            <a:tbl>
              <a:tblPr/>
              <a:tblGrid>
                <a:gridCol w="502920"/>
                <a:gridCol w="1143000"/>
                <a:gridCol w="1783080"/>
                <a:gridCol w="868680"/>
                <a:gridCol w="502920"/>
                <a:gridCol w="731520"/>
                <a:gridCol w="1188720"/>
                <a:gridCol w="4306824"/>
              </a:tblGrid>
              <a:tr h="265176">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Pos</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Core</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15-mer</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EL %Rank</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DR</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 pop</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Class</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Presenting molecules</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265176">
                <a:tc>
                  <a:txBody>
                    <a:bodyPr/>
                    <a:lstStyle/>
                    <a:p>
                      <a:pPr indent="0" marL="0">
                        <a:buNone/>
                      </a:pPr>
                      <a:r>
                        <a:rPr lang="en-US" sz="900" dirty="0">
                          <a:solidFill>
                            <a:srgbClr val="12212E"/>
                          </a:solidFill>
                          <a:latin typeface="Calibri" pitchFamily="34" charset="0"/>
                          <a:ea typeface="Calibri" pitchFamily="34" charset="-122"/>
                          <a:cs typeface="Calibri" pitchFamily="34" charset="-120"/>
                        </a:rPr>
                        <a:t>47</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FVAVQDITA</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12212E"/>
                          </a:solidFill>
                          <a:latin typeface="Courier New" pitchFamily="34" charset="0"/>
                          <a:ea typeface="Courier New" pitchFamily="34" charset="-122"/>
                          <a:cs typeface="Courier New" pitchFamily="34" charset="-120"/>
                        </a:rPr>
                        <a:t>KEREFVAVQDITASN</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0.01</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40%</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B23B3B"/>
                          </a:solidFill>
                          <a:latin typeface="Calibri" pitchFamily="34" charset="0"/>
                          <a:ea typeface="Calibri" pitchFamily="34" charset="-122"/>
                          <a:cs typeface="Calibri" pitchFamily="34" charset="-120"/>
                        </a:rPr>
                        <a:t>foreign</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750" dirty="0">
                          <a:solidFill>
                            <a:srgbClr val="63748A"/>
                          </a:solidFill>
                          <a:latin typeface="Calibri" pitchFamily="34" charset="0"/>
                          <a:ea typeface="Calibri" pitchFamily="34" charset="-122"/>
                          <a:cs typeface="Calibri" pitchFamily="34" charset="-120"/>
                        </a:rPr>
                        <a:t>DRB1*01:01 DRB1*04:01 DRB1*04:04 DRB1*04:05 DRB1*04:07 DRB1*08:02 DRB1*16:01</a:t>
                      </a:r>
                      <a:endParaRPr lang="en-US" sz="7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65176">
                <a:tc>
                  <a:txBody>
                    <a:bodyPr/>
                    <a:lstStyle/>
                    <a:p>
                      <a:pPr indent="0" marL="0">
                        <a:buNone/>
                      </a:pPr>
                      <a:r>
                        <a:rPr lang="en-US" sz="900" dirty="0">
                          <a:solidFill>
                            <a:srgbClr val="12212E"/>
                          </a:solidFill>
                          <a:latin typeface="Calibri" pitchFamily="34" charset="0"/>
                          <a:ea typeface="Calibri" pitchFamily="34" charset="-122"/>
                          <a:cs typeface="Calibri" pitchFamily="34" charset="-120"/>
                        </a:rPr>
                        <a:t>80</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YLQMNNLKP</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12212E"/>
                          </a:solidFill>
                          <a:latin typeface="Courier New" pitchFamily="34" charset="0"/>
                          <a:ea typeface="Courier New" pitchFamily="34" charset="-122"/>
                          <a:cs typeface="Courier New" pitchFamily="34" charset="-120"/>
                        </a:rPr>
                        <a:t>NTAYLQMNNLKPEDT</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0.23</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B23B3B"/>
                          </a:solidFill>
                          <a:latin typeface="Calibri" pitchFamily="34" charset="0"/>
                          <a:ea typeface="Calibri" pitchFamily="34" charset="-122"/>
                          <a:cs typeface="Calibri" pitchFamily="34" charset="-120"/>
                        </a:rPr>
                        <a:t>foreign</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750" dirty="0">
                          <a:solidFill>
                            <a:srgbClr val="63748A"/>
                          </a:solidFill>
                          <a:latin typeface="Calibri" pitchFamily="34" charset="0"/>
                          <a:ea typeface="Calibri" pitchFamily="34" charset="-122"/>
                          <a:cs typeface="Calibri" pitchFamily="34" charset="-120"/>
                        </a:rPr>
                        <a:t>DRB1*04:01 DRB1*04:07 DRB1*16:01</a:t>
                      </a:r>
                      <a:endParaRPr lang="en-US" sz="7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65176">
                <a:tc>
                  <a:txBody>
                    <a:bodyPr/>
                    <a:lstStyle/>
                    <a:p>
                      <a:pPr indent="0" marL="0">
                        <a:buNone/>
                      </a:pPr>
                      <a:r>
                        <a:rPr lang="en-US" sz="900" dirty="0">
                          <a:solidFill>
                            <a:srgbClr val="12212E"/>
                          </a:solidFill>
                          <a:latin typeface="Calibri" pitchFamily="34" charset="0"/>
                          <a:ea typeface="Calibri" pitchFamily="34" charset="-122"/>
                          <a:cs typeface="Calibri" pitchFamily="34" charset="-120"/>
                        </a:rPr>
                        <a:t>37</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FRQAPGKER</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12212E"/>
                          </a:solidFill>
                          <a:latin typeface="Courier New" pitchFamily="34" charset="0"/>
                          <a:ea typeface="Courier New" pitchFamily="34" charset="-122"/>
                          <a:cs typeface="Courier New" pitchFamily="34" charset="-120"/>
                        </a:rPr>
                        <a:t>MGWFRQAPGKEREFV</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0.13</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B23B3B"/>
                          </a:solidFill>
                          <a:latin typeface="Calibri" pitchFamily="34" charset="0"/>
                          <a:ea typeface="Calibri" pitchFamily="34" charset="-122"/>
                          <a:cs typeface="Calibri" pitchFamily="34" charset="-120"/>
                        </a:rPr>
                        <a:t>foreign</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750" dirty="0">
                          <a:solidFill>
                            <a:srgbClr val="63748A"/>
                          </a:solidFill>
                          <a:latin typeface="Calibri" pitchFamily="34" charset="0"/>
                          <a:ea typeface="Calibri" pitchFamily="34" charset="-122"/>
                          <a:cs typeface="Calibri" pitchFamily="34" charset="-120"/>
                        </a:rPr>
                        <a:t>DRB5*01:01</a:t>
                      </a:r>
                      <a:endParaRPr lang="en-US" sz="7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65176">
                <a:tc>
                  <a:txBody>
                    <a:bodyPr/>
                    <a:lstStyle/>
                    <a:p>
                      <a:pPr indent="0" marL="0">
                        <a:buNone/>
                      </a:pPr>
                      <a:r>
                        <a:rPr lang="en-US" sz="900" dirty="0">
                          <a:solidFill>
                            <a:srgbClr val="12212E"/>
                          </a:solidFill>
                          <a:latin typeface="Calibri" pitchFamily="34" charset="0"/>
                          <a:ea typeface="Calibri" pitchFamily="34" charset="-122"/>
                          <a:cs typeface="Calibri" pitchFamily="34" charset="-120"/>
                        </a:rPr>
                        <a:t>48</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VAVQDITAS</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12212E"/>
                          </a:solidFill>
                          <a:latin typeface="Courier New" pitchFamily="34" charset="0"/>
                          <a:ea typeface="Courier New" pitchFamily="34" charset="-122"/>
                          <a:cs typeface="Courier New" pitchFamily="34" charset="-120"/>
                        </a:rPr>
                        <a:t>REFVAVQDITASNTH</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0.11</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B23B3B"/>
                          </a:solidFill>
                          <a:latin typeface="Calibri" pitchFamily="34" charset="0"/>
                          <a:ea typeface="Calibri" pitchFamily="34" charset="-122"/>
                          <a:cs typeface="Calibri" pitchFamily="34" charset="-120"/>
                        </a:rPr>
                        <a:t>foreign</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750" dirty="0">
                          <a:solidFill>
                            <a:srgbClr val="63748A"/>
                          </a:solidFill>
                          <a:latin typeface="Calibri" pitchFamily="34" charset="0"/>
                          <a:ea typeface="Calibri" pitchFamily="34" charset="-122"/>
                          <a:cs typeface="Calibri" pitchFamily="34" charset="-120"/>
                        </a:rPr>
                        <a:t>DRB4*01:01</a:t>
                      </a:r>
                      <a:endParaRPr lang="en-US" sz="7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65176">
                <a:tc>
                  <a:txBody>
                    <a:bodyPr/>
                    <a:lstStyle/>
                    <a:p>
                      <a:pPr indent="0" marL="0">
                        <a:buNone/>
                      </a:pPr>
                      <a:r>
                        <a:rPr lang="en-US" sz="900" dirty="0">
                          <a:solidFill>
                            <a:srgbClr val="12212E"/>
                          </a:solidFill>
                          <a:latin typeface="Calibri" pitchFamily="34" charset="0"/>
                          <a:ea typeface="Calibri" pitchFamily="34" charset="-122"/>
                          <a:cs typeface="Calibri" pitchFamily="34" charset="-120"/>
                        </a:rPr>
                        <a:t>68</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FTLSRDNAK</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12212E"/>
                          </a:solidFill>
                          <a:latin typeface="Courier New" pitchFamily="34" charset="0"/>
                          <a:ea typeface="Courier New" pitchFamily="34" charset="-122"/>
                          <a:cs typeface="Courier New" pitchFamily="34" charset="-120"/>
                        </a:rPr>
                        <a:t>KGRFTLSRDNAKNTA</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0.46</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3D8A6B"/>
                          </a:solidFill>
                          <a:latin typeface="Calibri" pitchFamily="34" charset="0"/>
                          <a:ea typeface="Calibri" pitchFamily="34" charset="-122"/>
                          <a:cs typeface="Calibri" pitchFamily="34" charset="-120"/>
                        </a:rPr>
                        <a:t>near human 9mer</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750" dirty="0">
                          <a:solidFill>
                            <a:srgbClr val="63748A"/>
                          </a:solidFill>
                          <a:latin typeface="Calibri" pitchFamily="34" charset="0"/>
                          <a:ea typeface="Calibri" pitchFamily="34" charset="-122"/>
                          <a:cs typeface="Calibri" pitchFamily="34" charset="-120"/>
                        </a:rPr>
                        <a:t>DRB5*01:01</a:t>
                      </a:r>
                      <a:endParaRPr lang="en-US" sz="7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7 · ADA LAYER</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The measured endpoint is an antibody, not a T cell</a:t>
            </a:r>
            <a:endParaRPr lang="en-US" sz="2700" dirty="0"/>
          </a:p>
        </p:txBody>
      </p:sp>
      <p:pic>
        <p:nvPicPr>
          <p:cNvPr id="4" name="Image 0" descr="/home/user/ClaudeCode/hla_ligand_immunogenicity/figures/fig4_tb_coincidence.png">    </p:cNvPr>
          <p:cNvPicPr>
            <a:picLocks noChangeAspect="1"/>
          </p:cNvPicPr>
          <p:nvPr/>
        </p:nvPicPr>
        <p:blipFill>
          <a:blip r:embed="rId1"/>
          <a:stretch>
            <a:fillRect/>
          </a:stretch>
        </p:blipFill>
        <p:spPr>
          <a:xfrm>
            <a:off x="566928" y="1115568"/>
            <a:ext cx="11027664" cy="2834640"/>
          </a:xfrm>
          <a:prstGeom prst="rect">
            <a:avLst/>
          </a:prstGeom>
        </p:spPr>
      </p:pic>
      <p:sp>
        <p:nvSpPr>
          <p:cNvPr id="5" name="Text 2"/>
          <p:cNvSpPr/>
          <p:nvPr/>
        </p:nvSpPr>
        <p:spPr>
          <a:xfrm>
            <a:off x="566928" y="4069080"/>
            <a:ext cx="11027664" cy="502920"/>
          </a:xfrm>
          <a:prstGeom prst="rect">
            <a:avLst/>
          </a:prstGeom>
          <a:noFill/>
          <a:ln/>
        </p:spPr>
        <p:txBody>
          <a:bodyPr wrap="square" lIns="0" tIns="0" rIns="0" bIns="0" rtlCol="0" anchor="ctr"/>
          <a:lstStyle/>
          <a:p>
            <a:pPr indent="0" marL="0">
              <a:lnSpc>
                <a:spcPts val="1600"/>
              </a:lnSpc>
              <a:buNone/>
            </a:pPr>
            <a:r>
              <a:rPr lang="en-US" sz="1200" dirty="0">
                <a:solidFill>
                  <a:srgbClr val="12212E"/>
                </a:solidFill>
                <a:latin typeface="Calibri" pitchFamily="34" charset="0"/>
                <a:ea typeface="Calibri" pitchFamily="34" charset="-122"/>
                <a:cs typeface="Calibri" pitchFamily="34" charset="-120"/>
              </a:rPr>
              <a:t>A B cell only class-switches with help from a CD4 T cell recognising a peptide from the same protein. The regions worth taking into wet-lab work first are those where a non-self DR cluster and a predicted B-cell epitope coincide — shaded above.</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4663440"/>
          <a:ext cx="11027664" cy="914400"/>
        </p:xfrm>
        <a:graphic>
          <a:graphicData uri="http://schemas.openxmlformats.org/drawingml/2006/table">
            <a:tbl>
              <a:tblPr/>
              <a:tblGrid>
                <a:gridCol w="1371600"/>
                <a:gridCol w="1188720"/>
                <a:gridCol w="1554480"/>
                <a:gridCol w="1371600"/>
                <a:gridCol w="1097280"/>
                <a:gridCol w="4443984"/>
              </a:tblGrid>
              <a:tr h="292608">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T-cell cluster</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Core</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 pop presenting</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B-cell region</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Overlap (aa)</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Region sequence</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292608">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47-56</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FVAVQDITA</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28.5%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53-63</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850" dirty="0">
                          <a:solidFill>
                            <a:srgbClr val="12212E"/>
                          </a:solidFill>
                          <a:latin typeface="Courier New" pitchFamily="34" charset="0"/>
                          <a:ea typeface="Courier New" pitchFamily="34" charset="-122"/>
                          <a:cs typeface="Courier New" pitchFamily="34" charset="-120"/>
                        </a:rPr>
                        <a:t>ITASNTHYSSA</a:t>
                      </a:r>
                      <a:endParaRPr lang="en-US" sz="8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
        <p:nvSpPr>
          <p:cNvPr id="7" name="Text 3"/>
          <p:cNvSpPr/>
          <p:nvPr/>
        </p:nvSpPr>
        <p:spPr>
          <a:xfrm>
            <a:off x="566928" y="6172200"/>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BepiPred-2.0 linear B-cell propensity is the weakest model in this pipeline — most real ADA epitopes are conformational. This layer prioritises regions; it is never a standalone claim.</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8 · EXPOSURE CONTEXT</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Intrinsic risk × dose</a:t>
            </a:r>
            <a:endParaRPr lang="en-US" sz="2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234440"/>
          <a:ext cx="11027664" cy="914400"/>
        </p:xfrm>
        <a:graphic>
          <a:graphicData uri="http://schemas.openxmlformats.org/drawingml/2006/table">
            <a:tbl>
              <a:tblPr/>
              <a:tblGrid>
                <a:gridCol w="2011680"/>
                <a:gridCol w="2253996"/>
                <a:gridCol w="2253996"/>
                <a:gridCol w="2253996"/>
                <a:gridCol w="2253996"/>
              </a:tblGrid>
              <a:tr h="566928">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Leachate \ dose</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1 mg</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10 mg</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100 mg</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1000 mg</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566928">
                <a:tc>
                  <a:txBody>
                    <a:bodyPr/>
                    <a:lstStyle/>
                    <a:p>
                      <a:pPr indent="0" marL="0">
                        <a:buNone/>
                      </a:pPr>
                      <a:r>
                        <a:rPr lang="en-US" sz="1100" b="1" dirty="0">
                          <a:solidFill>
                            <a:srgbClr val="63748A"/>
                          </a:solidFill>
                          <a:latin typeface="Calibri" pitchFamily="34" charset="0"/>
                          <a:ea typeface="Calibri" pitchFamily="34" charset="-122"/>
                          <a:cs typeface="Calibri" pitchFamily="34" charset="-120"/>
                        </a:rPr>
                        <a:t>1 ng/mg</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algn="ctr" indent="0" marL="0">
                        <a:buNone/>
                      </a:pPr>
                      <a:r>
                        <a:rPr lang="en-US" sz="1100" dirty="0">
                          <a:solidFill>
                            <a:srgbClr val="3D8A6B"/>
                          </a:solidFill>
                          <a:latin typeface="Calibri" pitchFamily="34" charset="0"/>
                          <a:ea typeface="Calibri" pitchFamily="34" charset="-122"/>
                          <a:cs typeface="Calibri" pitchFamily="34" charset="-120"/>
                        </a:rPr>
                        <a:t>0.001 µg</a:t>
                      </a:r>
                      <a:endParaRPr lang="en-US" sz="1100" dirty="0">
                        <a:latin typeface="Calibri" charset="0"/>
                        <a:ea typeface="Calibri" charset="0"/>
                        <a:cs typeface="Calibri" charset="0"/>
                      </a:endParaRPr>
                    </a:p>
                    <a:p>
                      <a:pPr algn="ctr" indent="0" marL="0">
                        <a:buNone/>
                      </a:pPr>
                      <a:r>
                        <a:rPr lang="en-US" sz="1100" dirty="0">
                          <a:solidFill>
                            <a:srgbClr val="3D8A6B"/>
                          </a:solidFill>
                          <a:latin typeface="Calibri" pitchFamily="34" charset="0"/>
                          <a:ea typeface="Calibri" pitchFamily="34" charset="-122"/>
                          <a:cs typeface="Calibri" pitchFamily="34" charset="-120"/>
                        </a:rPr>
                        <a:t>negligible</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dirty="0">
                          <a:solidFill>
                            <a:srgbClr val="3D8A6B"/>
                          </a:solidFill>
                          <a:latin typeface="Calibri" pitchFamily="34" charset="0"/>
                          <a:ea typeface="Calibri" pitchFamily="34" charset="-122"/>
                          <a:cs typeface="Calibri" pitchFamily="34" charset="-120"/>
                        </a:rPr>
                        <a:t>0.01 µg</a:t>
                      </a:r>
                      <a:endParaRPr lang="en-US" sz="1100" dirty="0">
                        <a:latin typeface="Calibri" charset="0"/>
                        <a:ea typeface="Calibri" charset="0"/>
                        <a:cs typeface="Calibri" charset="0"/>
                      </a:endParaRPr>
                    </a:p>
                    <a:p>
                      <a:pPr algn="ctr" indent="0" marL="0">
                        <a:buNone/>
                      </a:pPr>
                      <a:r>
                        <a:rPr lang="en-US" sz="1100" dirty="0">
                          <a:solidFill>
                            <a:srgbClr val="3D8A6B"/>
                          </a:solidFill>
                          <a:latin typeface="Calibri" pitchFamily="34" charset="0"/>
                          <a:ea typeface="Calibri" pitchFamily="34" charset="-122"/>
                          <a:cs typeface="Calibri" pitchFamily="34" charset="-120"/>
                        </a:rPr>
                        <a:t>negligible</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dirty="0">
                          <a:solidFill>
                            <a:srgbClr val="3D8A6B"/>
                          </a:solidFill>
                          <a:latin typeface="Calibri" pitchFamily="34" charset="0"/>
                          <a:ea typeface="Calibri" pitchFamily="34" charset="-122"/>
                          <a:cs typeface="Calibri" pitchFamily="34" charset="-120"/>
                        </a:rPr>
                        <a:t>0.1 µg</a:t>
                      </a:r>
                      <a:endParaRPr lang="en-US" sz="1100" dirty="0">
                        <a:latin typeface="Calibri" charset="0"/>
                        <a:ea typeface="Calibri" charset="0"/>
                        <a:cs typeface="Calibri" charset="0"/>
                      </a:endParaRPr>
                    </a:p>
                    <a:p>
                      <a:pPr algn="ctr" indent="0" marL="0">
                        <a:buNone/>
                      </a:pPr>
                      <a:r>
                        <a:rPr lang="en-US" sz="1100" dirty="0">
                          <a:solidFill>
                            <a:srgbClr val="3D8A6B"/>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dirty="0">
                          <a:solidFill>
                            <a:srgbClr val="C9752B"/>
                          </a:solidFill>
                          <a:latin typeface="Calibri" pitchFamily="34" charset="0"/>
                          <a:ea typeface="Calibri" pitchFamily="34" charset="-122"/>
                          <a:cs typeface="Calibri" pitchFamily="34" charset="-120"/>
                        </a:rPr>
                        <a:t>1.0 µg</a:t>
                      </a:r>
                      <a:endParaRPr lang="en-US" sz="1100" dirty="0">
                        <a:latin typeface="Calibri" charset="0"/>
                        <a:ea typeface="Calibri" charset="0"/>
                        <a:cs typeface="Calibri" charset="0"/>
                      </a:endParaRPr>
                    </a:p>
                    <a:p>
                      <a:pPr algn="ctr" indent="0" marL="0">
                        <a:buNone/>
                      </a:pPr>
                      <a:r>
                        <a:rPr lang="en-US" sz="1100" dirty="0">
                          <a:solidFill>
                            <a:srgbClr val="C9752B"/>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566928">
                <a:tc>
                  <a:txBody>
                    <a:bodyPr/>
                    <a:lstStyle/>
                    <a:p>
                      <a:pPr indent="0" marL="0">
                        <a:buNone/>
                      </a:pPr>
                      <a:r>
                        <a:rPr lang="en-US" sz="1100" b="1" dirty="0">
                          <a:solidFill>
                            <a:srgbClr val="63748A"/>
                          </a:solidFill>
                          <a:latin typeface="Calibri" pitchFamily="34" charset="0"/>
                          <a:ea typeface="Calibri" pitchFamily="34" charset="-122"/>
                          <a:cs typeface="Calibri" pitchFamily="34" charset="-120"/>
                        </a:rPr>
                        <a:t>10 ng/mg</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algn="ctr" indent="0" marL="0">
                        <a:buNone/>
                      </a:pPr>
                      <a:r>
                        <a:rPr lang="en-US" sz="1100" dirty="0">
                          <a:solidFill>
                            <a:srgbClr val="3D8A6B"/>
                          </a:solidFill>
                          <a:latin typeface="Calibri" pitchFamily="34" charset="0"/>
                          <a:ea typeface="Calibri" pitchFamily="34" charset="-122"/>
                          <a:cs typeface="Calibri" pitchFamily="34" charset="-120"/>
                        </a:rPr>
                        <a:t>0.01 µg</a:t>
                      </a:r>
                      <a:endParaRPr lang="en-US" sz="1100" dirty="0">
                        <a:latin typeface="Calibri" charset="0"/>
                        <a:ea typeface="Calibri" charset="0"/>
                        <a:cs typeface="Calibri" charset="0"/>
                      </a:endParaRPr>
                    </a:p>
                    <a:p>
                      <a:pPr algn="ctr" indent="0" marL="0">
                        <a:buNone/>
                      </a:pPr>
                      <a:r>
                        <a:rPr lang="en-US" sz="1100" dirty="0">
                          <a:solidFill>
                            <a:srgbClr val="3D8A6B"/>
                          </a:solidFill>
                          <a:latin typeface="Calibri" pitchFamily="34" charset="0"/>
                          <a:ea typeface="Calibri" pitchFamily="34" charset="-122"/>
                          <a:cs typeface="Calibri" pitchFamily="34" charset="-120"/>
                        </a:rPr>
                        <a:t>negligible</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dirty="0">
                          <a:solidFill>
                            <a:srgbClr val="3D8A6B"/>
                          </a:solidFill>
                          <a:latin typeface="Calibri" pitchFamily="34" charset="0"/>
                          <a:ea typeface="Calibri" pitchFamily="34" charset="-122"/>
                          <a:cs typeface="Calibri" pitchFamily="34" charset="-120"/>
                        </a:rPr>
                        <a:t>0.1 µg</a:t>
                      </a:r>
                      <a:endParaRPr lang="en-US" sz="1100" dirty="0">
                        <a:latin typeface="Calibri" charset="0"/>
                        <a:ea typeface="Calibri" charset="0"/>
                        <a:cs typeface="Calibri" charset="0"/>
                      </a:endParaRPr>
                    </a:p>
                    <a:p>
                      <a:pPr algn="ctr" indent="0" marL="0">
                        <a:buNone/>
                      </a:pPr>
                      <a:r>
                        <a:rPr lang="en-US" sz="1100" dirty="0">
                          <a:solidFill>
                            <a:srgbClr val="3D8A6B"/>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dirty="0">
                          <a:solidFill>
                            <a:srgbClr val="C9752B"/>
                          </a:solidFill>
                          <a:latin typeface="Calibri" pitchFamily="34" charset="0"/>
                          <a:ea typeface="Calibri" pitchFamily="34" charset="-122"/>
                          <a:cs typeface="Calibri" pitchFamily="34" charset="-120"/>
                        </a:rPr>
                        <a:t>1.0 µg</a:t>
                      </a:r>
                      <a:endParaRPr lang="en-US" sz="1100" dirty="0">
                        <a:latin typeface="Calibri" charset="0"/>
                        <a:ea typeface="Calibri" charset="0"/>
                        <a:cs typeface="Calibri" charset="0"/>
                      </a:endParaRPr>
                    </a:p>
                    <a:p>
                      <a:pPr algn="ctr" indent="0" marL="0">
                        <a:buNone/>
                      </a:pPr>
                      <a:r>
                        <a:rPr lang="en-US" sz="1100" dirty="0">
                          <a:solidFill>
                            <a:srgbClr val="C9752B"/>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b="1" dirty="0">
                          <a:solidFill>
                            <a:srgbClr val="B23B3B"/>
                          </a:solidFill>
                          <a:latin typeface="Calibri" pitchFamily="34" charset="0"/>
                          <a:ea typeface="Calibri" pitchFamily="34" charset="-122"/>
                          <a:cs typeface="Calibri" pitchFamily="34" charset="-120"/>
                        </a:rPr>
                        <a:t>10.0 µg</a:t>
                      </a:r>
                      <a:endParaRPr lang="en-US" sz="1100" dirty="0">
                        <a:latin typeface="Calibri" charset="0"/>
                        <a:ea typeface="Calibri" charset="0"/>
                        <a:cs typeface="Calibri" charset="0"/>
                      </a:endParaRPr>
                    </a:p>
                    <a:p>
                      <a:pPr algn="ctr" indent="0" marL="0">
                        <a:buNone/>
                      </a:pPr>
                      <a:r>
                        <a:rPr lang="en-US" sz="1100" b="1" dirty="0">
                          <a:solidFill>
                            <a:srgbClr val="B23B3B"/>
                          </a:solidFill>
                          <a:latin typeface="Calibri" pitchFamily="34" charset="0"/>
                          <a:ea typeface="Calibri" pitchFamily="34" charset="-122"/>
                          <a:cs typeface="Calibri" pitchFamily="34" charset="-120"/>
                        </a:rPr>
                        <a:t>elevated</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566928">
                <a:tc>
                  <a:txBody>
                    <a:bodyPr/>
                    <a:lstStyle/>
                    <a:p>
                      <a:pPr indent="0" marL="0">
                        <a:buNone/>
                      </a:pPr>
                      <a:r>
                        <a:rPr lang="en-US" sz="1100" b="1" dirty="0">
                          <a:solidFill>
                            <a:srgbClr val="63748A"/>
                          </a:solidFill>
                          <a:latin typeface="Calibri" pitchFamily="34" charset="0"/>
                          <a:ea typeface="Calibri" pitchFamily="34" charset="-122"/>
                          <a:cs typeface="Calibri" pitchFamily="34" charset="-120"/>
                        </a:rPr>
                        <a:t>100 ng/mg</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algn="ctr" indent="0" marL="0">
                        <a:buNone/>
                      </a:pPr>
                      <a:r>
                        <a:rPr lang="en-US" sz="1100" dirty="0">
                          <a:solidFill>
                            <a:srgbClr val="3D8A6B"/>
                          </a:solidFill>
                          <a:latin typeface="Calibri" pitchFamily="34" charset="0"/>
                          <a:ea typeface="Calibri" pitchFamily="34" charset="-122"/>
                          <a:cs typeface="Calibri" pitchFamily="34" charset="-120"/>
                        </a:rPr>
                        <a:t>0.1 µg</a:t>
                      </a:r>
                      <a:endParaRPr lang="en-US" sz="1100" dirty="0">
                        <a:latin typeface="Calibri" charset="0"/>
                        <a:ea typeface="Calibri" charset="0"/>
                        <a:cs typeface="Calibri" charset="0"/>
                      </a:endParaRPr>
                    </a:p>
                    <a:p>
                      <a:pPr algn="ctr" indent="0" marL="0">
                        <a:buNone/>
                      </a:pPr>
                      <a:r>
                        <a:rPr lang="en-US" sz="1100" dirty="0">
                          <a:solidFill>
                            <a:srgbClr val="3D8A6B"/>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dirty="0">
                          <a:solidFill>
                            <a:srgbClr val="C9752B"/>
                          </a:solidFill>
                          <a:latin typeface="Calibri" pitchFamily="34" charset="0"/>
                          <a:ea typeface="Calibri" pitchFamily="34" charset="-122"/>
                          <a:cs typeface="Calibri" pitchFamily="34" charset="-120"/>
                        </a:rPr>
                        <a:t>1.0 µg</a:t>
                      </a:r>
                      <a:endParaRPr lang="en-US" sz="1100" dirty="0">
                        <a:latin typeface="Calibri" charset="0"/>
                        <a:ea typeface="Calibri" charset="0"/>
                        <a:cs typeface="Calibri" charset="0"/>
                      </a:endParaRPr>
                    </a:p>
                    <a:p>
                      <a:pPr algn="ctr" indent="0" marL="0">
                        <a:buNone/>
                      </a:pPr>
                      <a:r>
                        <a:rPr lang="en-US" sz="1100" dirty="0">
                          <a:solidFill>
                            <a:srgbClr val="C9752B"/>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b="1" dirty="0">
                          <a:solidFill>
                            <a:srgbClr val="B23B3B"/>
                          </a:solidFill>
                          <a:latin typeface="Calibri" pitchFamily="34" charset="0"/>
                          <a:ea typeface="Calibri" pitchFamily="34" charset="-122"/>
                          <a:cs typeface="Calibri" pitchFamily="34" charset="-120"/>
                        </a:rPr>
                        <a:t>10.0 µg</a:t>
                      </a:r>
                      <a:endParaRPr lang="en-US" sz="1100" dirty="0">
                        <a:latin typeface="Calibri" charset="0"/>
                        <a:ea typeface="Calibri" charset="0"/>
                        <a:cs typeface="Calibri" charset="0"/>
                      </a:endParaRPr>
                    </a:p>
                    <a:p>
                      <a:pPr algn="ctr" indent="0" marL="0">
                        <a:buNone/>
                      </a:pPr>
                      <a:r>
                        <a:rPr lang="en-US" sz="1100" b="1" dirty="0">
                          <a:solidFill>
                            <a:srgbClr val="B23B3B"/>
                          </a:solidFill>
                          <a:latin typeface="Calibri" pitchFamily="34" charset="0"/>
                          <a:ea typeface="Calibri" pitchFamily="34" charset="-122"/>
                          <a:cs typeface="Calibri" pitchFamily="34" charset="-120"/>
                        </a:rPr>
                        <a:t>elevated</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b="1" dirty="0">
                          <a:solidFill>
                            <a:srgbClr val="B23B3B"/>
                          </a:solidFill>
                          <a:latin typeface="Calibri" pitchFamily="34" charset="0"/>
                          <a:ea typeface="Calibri" pitchFamily="34" charset="-122"/>
                          <a:cs typeface="Calibri" pitchFamily="34" charset="-120"/>
                        </a:rPr>
                        <a:t>100.0 µg</a:t>
                      </a:r>
                      <a:endParaRPr lang="en-US" sz="1100" dirty="0">
                        <a:latin typeface="Calibri" charset="0"/>
                        <a:ea typeface="Calibri" charset="0"/>
                        <a:cs typeface="Calibri" charset="0"/>
                      </a:endParaRPr>
                    </a:p>
                    <a:p>
                      <a:pPr algn="ctr" indent="0" marL="0">
                        <a:buNone/>
                      </a:pPr>
                      <a:r>
                        <a:rPr lang="en-US" sz="1100" b="1" dirty="0">
                          <a:solidFill>
                            <a:srgbClr val="B23B3B"/>
                          </a:solidFill>
                          <a:latin typeface="Calibri" pitchFamily="34" charset="0"/>
                          <a:ea typeface="Calibri" pitchFamily="34" charset="-122"/>
                          <a:cs typeface="Calibri" pitchFamily="34" charset="-120"/>
                        </a:rPr>
                        <a:t>elevated</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
        <p:nvSpPr>
          <p:cNvPr id="5" name="Text 2"/>
          <p:cNvSpPr/>
          <p:nvPr/>
        </p:nvSpPr>
        <p:spPr>
          <a:xfrm>
            <a:off x="566928" y="3822192"/>
            <a:ext cx="11027664" cy="731520"/>
          </a:xfrm>
          <a:prstGeom prst="rect">
            <a:avLst/>
          </a:prstGeom>
          <a:noFill/>
          <a:ln/>
        </p:spPr>
        <p:txBody>
          <a:bodyPr wrap="square" lIns="0" tIns="0" rIns="0" bIns="0" rtlCol="0" anchor="ctr"/>
          <a:lstStyle/>
          <a:p>
            <a:pPr indent="0" marL="0">
              <a:lnSpc>
                <a:spcPts val="1600"/>
              </a:lnSpc>
              <a:buNone/>
            </a:pPr>
            <a:r>
              <a:rPr lang="en-US" sz="1200" dirty="0">
                <a:solidFill>
                  <a:srgbClr val="12212E"/>
                </a:solidFill>
                <a:latin typeface="Calibri" pitchFamily="34" charset="0"/>
                <a:ea typeface="Calibri" pitchFamily="34" charset="-122"/>
                <a:cs typeface="Calibri" pitchFamily="34" charset="-120"/>
              </a:rPr>
              <a:t>A leached ligand is an impurity, and impurity risk is intrinsic potential multiplied by how much a patient receives. The intrinsic score places this ligand at 1.1× the Protein A Z-domain; the grid above decides whether that multiple matters for a given product.</a:t>
            </a:r>
            <a:endParaRPr lang="en-US" sz="1200" dirty="0"/>
          </a:p>
        </p:txBody>
      </p:sp>
      <p:sp>
        <p:nvSpPr>
          <p:cNvPr id="6" name="Text 3"/>
          <p:cNvSpPr/>
          <p:nvPr/>
        </p:nvSpPr>
        <p:spPr>
          <a:xfrm>
            <a:off x="566928" y="5989320"/>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Bands are an internal triage convention, not a regulatory threshold. No agency publishes a numeric leachate immunogenicity limit; the ICH Q6B / EMA expectation is control to a justified, consistently achieved level. Replace this grid with your product's measured leachate and dose.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9 · DEIMMUNISATION</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If the ligand can be re-engineered</a:t>
            </a:r>
            <a:endParaRPr lang="en-US" sz="2700" dirty="0"/>
          </a:p>
        </p:txBody>
      </p:sp>
      <p:pic>
        <p:nvPicPr>
          <p:cNvPr id="4" name="Image 0" descr="/home/user/ClaudeCode/hla_ligand_immunogenicity/figures/fig5_deimmunization.png">    </p:cNvPr>
          <p:cNvPicPr>
            <a:picLocks noChangeAspect="1"/>
          </p:cNvPicPr>
          <p:nvPr/>
        </p:nvPicPr>
        <p:blipFill>
          <a:blip r:embed="rId1"/>
          <a:stretch>
            <a:fillRect/>
          </a:stretch>
        </p:blipFill>
        <p:spPr>
          <a:xfrm>
            <a:off x="566928" y="1188720"/>
            <a:ext cx="5486400" cy="3017520"/>
          </a:xfrm>
          <a:prstGeom prst="rect">
            <a:avLst/>
          </a:prstGeom>
        </p:spPr>
      </p:pic>
      <p:sp>
        <p:nvSpPr>
          <p:cNvPr id="5" name="Text 2"/>
          <p:cNvSpPr/>
          <p:nvPr/>
        </p:nvSpPr>
        <p:spPr>
          <a:xfrm>
            <a:off x="6327648" y="1188720"/>
            <a:ext cx="5266944" cy="3017520"/>
          </a:xfrm>
          <a:prstGeom prst="rect">
            <a:avLst/>
          </a:prstGeom>
          <a:noFill/>
          <a:ln/>
        </p:spPr>
        <p:txBody>
          <a:bodyPr wrap="square" lIns="0" tIns="0" rIns="0" bIns="0" rtlCol="0" anchor="ctr"/>
          <a:lstStyle/>
          <a:p>
            <a:pPr indent="0" marL="0">
              <a:lnSpc>
                <a:spcPts val="1600"/>
              </a:lnSpc>
              <a:buNone/>
            </a:pPr>
            <a:r>
              <a:rPr lang="en-US" sz="1300" b="1" dirty="0">
                <a:solidFill>
                  <a:srgbClr val="12212E"/>
                </a:solidFill>
                <a:latin typeface="Cambria" pitchFamily="34" charset="0"/>
                <a:ea typeface="Cambria" pitchFamily="34" charset="-122"/>
                <a:cs typeface="Cambria" pitchFamily="34" charset="-120"/>
              </a:rPr>
              <a:t>Anchor-position saturation scan
</a:t>
            </a:r>
            <a:pPr indent="0" marL="0">
              <a:lnSpc>
                <a:spcPts val="1600"/>
              </a:lnSpc>
              <a:buNone/>
            </a:pPr>
            <a:r>
              <a:rPr lang="en-US" sz="1150" dirty="0">
                <a:solidFill>
                  <a:srgbClr val="12212E"/>
                </a:solidFill>
                <a:latin typeface="Calibri" pitchFamily="34" charset="0"/>
                <a:ea typeface="Calibri" pitchFamily="34" charset="-122"/>
                <a:cs typeface="Calibri" pitchFamily="34" charset="-120"/>
              </a:rPr>
              <a:t>Every substitution at each MHC-II anchor pocket (P1, P4, P6, P9) of the dominant core was re-scored across the full panel. Wild type is presented by 8 DR molecules reaching 40% of the weighted population; the best variants drop that to single digits.</a:t>
            </a:r>
            <a:endParaRPr lang="en-US" sz="1300" dirty="0"/>
          </a:p>
          <a:p>
            <a:pPr indent="0" marL="0">
              <a:lnSpc>
                <a:spcPts val="1600"/>
              </a:lnSpc>
              <a:buNone/>
            </a:pPr>
            <a:endParaRPr lang="en-US" sz="1300" dirty="0"/>
          </a:p>
          <a:p>
            <a:pPr indent="0" marL="0">
              <a:lnSpc>
                <a:spcPts val="1600"/>
              </a:lnSpc>
              <a:buNone/>
            </a:pPr>
            <a:r>
              <a:rPr lang="en-US" sz="1150" dirty="0">
                <a:solidFill>
                  <a:srgbClr val="12212E"/>
                </a:solidFill>
                <a:latin typeface="Calibri" pitchFamily="34" charset="0"/>
                <a:ea typeface="Calibri" pitchFamily="34" charset="-122"/>
                <a:cs typeface="Calibri" pitchFamily="34" charset="-120"/>
              </a:rPr>
              <a:t>BLOSUM62 and the human germline residue at the aligned position are reported because a substitution that abolishes DR binding and breaks the fold is not a design. Germline-matching changes are the ones least likely to create a new epitope or destabilise the framework.</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4434840"/>
          <a:ext cx="11027664" cy="914400"/>
        </p:xfrm>
        <a:graphic>
          <a:graphicData uri="http://schemas.openxmlformats.org/drawingml/2006/table">
            <a:tbl>
              <a:tblPr/>
              <a:tblGrid>
                <a:gridCol w="1371600"/>
                <a:gridCol w="1280160"/>
                <a:gridCol w="1371600"/>
                <a:gridCol w="640080"/>
                <a:gridCol w="914400"/>
                <a:gridCol w="914400"/>
                <a:gridCol w="1005840"/>
                <a:gridCol w="3529584"/>
              </a:tblGrid>
              <a:tr h="256032">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Variant</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Substitution</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Core</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DR</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 pop</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Δ % pop</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BLOSUM62</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Germline aa</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256032">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P1_F47H</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alibri" pitchFamily="34" charset="0"/>
                          <a:ea typeface="Calibri" pitchFamily="34" charset="-122"/>
                          <a:cs typeface="Calibri" pitchFamily="34" charset="-120"/>
                        </a:rPr>
                        <a:t>F-&gt;H</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ourier New" pitchFamily="34" charset="0"/>
                          <a:ea typeface="Courier New" pitchFamily="34" charset="-122"/>
                          <a:cs typeface="Courier New" pitchFamily="34" charset="-120"/>
                        </a:rPr>
                        <a:t>HVAVQDITA</a:t>
                      </a:r>
                      <a:endParaRPr lang="en-US" sz="9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B23B3B"/>
                          </a:solidFill>
                          <a:latin typeface="Calibri" pitchFamily="34" charset="0"/>
                          <a:ea typeface="Calibri" pitchFamily="34" charset="-122"/>
                          <a:cs typeface="Calibri" pitchFamily="34" charset="-120"/>
                        </a:rPr>
                        <a:t>-39.6</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b="1" dirty="0">
                          <a:solidFill>
                            <a:srgbClr val="C9752B"/>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dirty="0">
                          <a:solidFill>
                            <a:srgbClr val="12212E"/>
                          </a:solidFill>
                          <a:latin typeface="Calibri" pitchFamily="34" charset="0"/>
                          <a:ea typeface="Calibri" pitchFamily="34" charset="-122"/>
                          <a:cs typeface="Calibri" pitchFamily="34" charset="-120"/>
                        </a:rPr>
                        <a:t>W</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56032">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P9_A55K</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alibri" pitchFamily="34" charset="0"/>
                          <a:ea typeface="Calibri" pitchFamily="34" charset="-122"/>
                          <a:cs typeface="Calibri" pitchFamily="34" charset="-120"/>
                        </a:rPr>
                        <a:t>A-&gt;K</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ourier New" pitchFamily="34" charset="0"/>
                          <a:ea typeface="Courier New" pitchFamily="34" charset="-122"/>
                          <a:cs typeface="Courier New" pitchFamily="34" charset="-120"/>
                        </a:rPr>
                        <a:t>FVAVQDITK</a:t>
                      </a:r>
                      <a:endParaRPr lang="en-US" sz="9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B23B3B"/>
                          </a:solidFill>
                          <a:latin typeface="Calibri" pitchFamily="34" charset="0"/>
                          <a:ea typeface="Calibri" pitchFamily="34" charset="-122"/>
                          <a:cs typeface="Calibri" pitchFamily="34" charset="-120"/>
                        </a:rPr>
                        <a:t>-39.6</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b="1" dirty="0">
                          <a:solidFill>
                            <a:srgbClr val="C9752B"/>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dirty="0">
                          <a:solidFill>
                            <a:srgbClr val="12212E"/>
                          </a:solidFill>
                          <a:latin typeface="Calibri" pitchFamily="34" charset="0"/>
                          <a:ea typeface="Calibri" pitchFamily="34" charset="-122"/>
                          <a:cs typeface="Calibri" pitchFamily="34" charset="-120"/>
                        </a:rPr>
                        <a:t>G</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56032">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P9_A55R</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alibri" pitchFamily="34" charset="0"/>
                          <a:ea typeface="Calibri" pitchFamily="34" charset="-122"/>
                          <a:cs typeface="Calibri" pitchFamily="34" charset="-120"/>
                        </a:rPr>
                        <a:t>A-&gt;R</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ourier New" pitchFamily="34" charset="0"/>
                          <a:ea typeface="Courier New" pitchFamily="34" charset="-122"/>
                          <a:cs typeface="Courier New" pitchFamily="34" charset="-120"/>
                        </a:rPr>
                        <a:t>FVAVQDITR</a:t>
                      </a:r>
                      <a:endParaRPr lang="en-US" sz="9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B23B3B"/>
                          </a:solidFill>
                          <a:latin typeface="Calibri" pitchFamily="34" charset="0"/>
                          <a:ea typeface="Calibri" pitchFamily="34" charset="-122"/>
                          <a:cs typeface="Calibri" pitchFamily="34" charset="-120"/>
                        </a:rPr>
                        <a:t>-39.6</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b="1" dirty="0">
                          <a:solidFill>
                            <a:srgbClr val="C9752B"/>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dirty="0">
                          <a:solidFill>
                            <a:srgbClr val="12212E"/>
                          </a:solidFill>
                          <a:latin typeface="Calibri" pitchFamily="34" charset="0"/>
                          <a:ea typeface="Calibri" pitchFamily="34" charset="-122"/>
                          <a:cs typeface="Calibri" pitchFamily="34" charset="-120"/>
                        </a:rPr>
                        <a:t>G</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56032">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P1_F47A</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alibri" pitchFamily="34" charset="0"/>
                          <a:ea typeface="Calibri" pitchFamily="34" charset="-122"/>
                          <a:cs typeface="Calibri" pitchFamily="34" charset="-120"/>
                        </a:rPr>
                        <a:t>F-&gt;A</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ourier New" pitchFamily="34" charset="0"/>
                          <a:ea typeface="Courier New" pitchFamily="34" charset="-122"/>
                          <a:cs typeface="Courier New" pitchFamily="34" charset="-120"/>
                        </a:rPr>
                        <a:t>AVAVQDITA</a:t>
                      </a:r>
                      <a:endParaRPr lang="en-US" sz="9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B23B3B"/>
                          </a:solidFill>
                          <a:latin typeface="Calibri" pitchFamily="34" charset="0"/>
                          <a:ea typeface="Calibri" pitchFamily="34" charset="-122"/>
                          <a:cs typeface="Calibri" pitchFamily="34" charset="-120"/>
                        </a:rPr>
                        <a:t>-39.6</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b="1" dirty="0">
                          <a:solidFill>
                            <a:srgbClr val="C9752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dirty="0">
                          <a:solidFill>
                            <a:srgbClr val="12212E"/>
                          </a:solidFill>
                          <a:latin typeface="Calibri" pitchFamily="34" charset="0"/>
                          <a:ea typeface="Calibri" pitchFamily="34" charset="-122"/>
                          <a:cs typeface="Calibri" pitchFamily="34" charset="-120"/>
                        </a:rPr>
                        <a:t>W</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56032">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P1_F47C</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alibri" pitchFamily="34" charset="0"/>
                          <a:ea typeface="Calibri" pitchFamily="34" charset="-122"/>
                          <a:cs typeface="Calibri" pitchFamily="34" charset="-120"/>
                        </a:rPr>
                        <a:t>F-&gt;C</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ourier New" pitchFamily="34" charset="0"/>
                          <a:ea typeface="Courier New" pitchFamily="34" charset="-122"/>
                          <a:cs typeface="Courier New" pitchFamily="34" charset="-120"/>
                        </a:rPr>
                        <a:t>CVAVQDITA</a:t>
                      </a:r>
                      <a:endParaRPr lang="en-US" sz="9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B23B3B"/>
                          </a:solidFill>
                          <a:latin typeface="Calibri" pitchFamily="34" charset="0"/>
                          <a:ea typeface="Calibri" pitchFamily="34" charset="-122"/>
                          <a:cs typeface="Calibri" pitchFamily="34" charset="-120"/>
                        </a:rPr>
                        <a:t>-39.6</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b="1" dirty="0">
                          <a:solidFill>
                            <a:srgbClr val="C9752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dirty="0">
                          <a:solidFill>
                            <a:srgbClr val="12212E"/>
                          </a:solidFill>
                          <a:latin typeface="Calibri" pitchFamily="34" charset="0"/>
                          <a:ea typeface="Calibri" pitchFamily="34" charset="-122"/>
                          <a:cs typeface="Calibri" pitchFamily="34" charset="-120"/>
                        </a:rPr>
                        <a:t>W</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56032">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P1_F47S</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alibri" pitchFamily="34" charset="0"/>
                          <a:ea typeface="Calibri" pitchFamily="34" charset="-122"/>
                          <a:cs typeface="Calibri" pitchFamily="34" charset="-120"/>
                        </a:rPr>
                        <a:t>F-&gt;S</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ourier New" pitchFamily="34" charset="0"/>
                          <a:ea typeface="Courier New" pitchFamily="34" charset="-122"/>
                          <a:cs typeface="Courier New" pitchFamily="34" charset="-120"/>
                        </a:rPr>
                        <a:t>SVAVQDITA</a:t>
                      </a:r>
                      <a:endParaRPr lang="en-US" sz="9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B23B3B"/>
                          </a:solidFill>
                          <a:latin typeface="Calibri" pitchFamily="34" charset="0"/>
                          <a:ea typeface="Calibri" pitchFamily="34" charset="-122"/>
                          <a:cs typeface="Calibri" pitchFamily="34" charset="-120"/>
                        </a:rPr>
                        <a:t>-39.6</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b="1" dirty="0">
                          <a:solidFill>
                            <a:srgbClr val="C9752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dirty="0">
                          <a:solidFill>
                            <a:srgbClr val="12212E"/>
                          </a:solidFill>
                          <a:latin typeface="Calibri" pitchFamily="34" charset="0"/>
                          <a:ea typeface="Calibri" pitchFamily="34" charset="-122"/>
                          <a:cs typeface="Calibri" pitchFamily="34" charset="-120"/>
                        </a:rPr>
                        <a:t>W</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56032">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P1_F47T</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alibri" pitchFamily="34" charset="0"/>
                          <a:ea typeface="Calibri" pitchFamily="34" charset="-122"/>
                          <a:cs typeface="Calibri" pitchFamily="34" charset="-120"/>
                        </a:rPr>
                        <a:t>F-&gt;T</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ourier New" pitchFamily="34" charset="0"/>
                          <a:ea typeface="Courier New" pitchFamily="34" charset="-122"/>
                          <a:cs typeface="Courier New" pitchFamily="34" charset="-120"/>
                        </a:rPr>
                        <a:t>TVAVQDITA</a:t>
                      </a:r>
                      <a:endParaRPr lang="en-US" sz="9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B23B3B"/>
                          </a:solidFill>
                          <a:latin typeface="Calibri" pitchFamily="34" charset="0"/>
                          <a:ea typeface="Calibri" pitchFamily="34" charset="-122"/>
                          <a:cs typeface="Calibri" pitchFamily="34" charset="-120"/>
                        </a:rPr>
                        <a:t>-39.6</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b="1" dirty="0">
                          <a:solidFill>
                            <a:srgbClr val="C9752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dirty="0">
                          <a:solidFill>
                            <a:srgbClr val="12212E"/>
                          </a:solidFill>
                          <a:latin typeface="Calibri" pitchFamily="34" charset="0"/>
                          <a:ea typeface="Calibri" pitchFamily="34" charset="-122"/>
                          <a:cs typeface="Calibri" pitchFamily="34" charset="-120"/>
                        </a:rPr>
                        <a:t>W</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
        <p:nvSpPr>
          <p:cNvPr id="7" name="Text 3"/>
          <p:cNvSpPr/>
          <p:nvPr/>
        </p:nvSpPr>
        <p:spPr>
          <a:xfrm>
            <a:off x="566928" y="6291072"/>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DR presentation only. Effect on ligand–target affinity, resin capacity and alkaline stability is not modelled; any candidate goes back through binding and stability screens before it means anything.</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12E"/>
        </a:solidFill>
      </p:bgPr>
    </p:bg>
    <p:spTree>
      <p:nvGrpSpPr>
        <p:cNvPr id="1" name=""/>
        <p:cNvGrpSpPr/>
        <p:nvPr/>
      </p:nvGrpSpPr>
      <p:grpSpPr>
        <a:xfrm>
          <a:off x="0" y="0"/>
          <a:ext cx="0" cy="0"/>
          <a:chOff x="0" y="0"/>
          <a:chExt cx="0" cy="0"/>
        </a:xfrm>
      </p:grpSpPr>
      <p:sp>
        <p:nvSpPr>
          <p:cNvPr id="2" name="Text 0"/>
          <p:cNvSpPr/>
          <p:nvPr/>
        </p:nvSpPr>
        <p:spPr>
          <a:xfrm>
            <a:off x="566928" y="457200"/>
            <a:ext cx="11027664" cy="65836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this is, and what it is not</a:t>
            </a:r>
            <a:endParaRPr lang="en-US" sz="2800" dirty="0"/>
          </a:p>
        </p:txBody>
      </p:sp>
      <p:sp>
        <p:nvSpPr>
          <p:cNvPr id="3" name="Text 1"/>
          <p:cNvSpPr/>
          <p:nvPr/>
        </p:nvSpPr>
        <p:spPr>
          <a:xfrm>
            <a:off x="566928" y="1188720"/>
            <a:ext cx="11027664" cy="365760"/>
          </a:xfrm>
          <a:prstGeom prst="rect">
            <a:avLst/>
          </a:prstGeom>
          <a:noFill/>
          <a:ln/>
        </p:spPr>
        <p:txBody>
          <a:bodyPr wrap="square" lIns="0" tIns="0" rIns="0" bIns="0" rtlCol="0" anchor="ctr"/>
          <a:lstStyle/>
          <a:p>
            <a:pPr indent="0" marL="0">
              <a:buNone/>
            </a:pPr>
            <a:r>
              <a:rPr lang="en-US" sz="1500" i="1" dirty="0">
                <a:solidFill>
                  <a:srgbClr val="AEC2D4"/>
                </a:solidFill>
                <a:latin typeface="Calibri" pitchFamily="34" charset="0"/>
                <a:ea typeface="Calibri" pitchFamily="34" charset="-122"/>
                <a:cs typeface="Calibri" pitchFamily="34" charset="-120"/>
              </a:rPr>
              <a:t>In-silico DR screening ranks and localises risk. It does not measure it.</a:t>
            </a:r>
            <a:endParaRPr lang="en-US" sz="1500" dirty="0"/>
          </a:p>
        </p:txBody>
      </p:sp>
      <p:sp>
        <p:nvSpPr>
          <p:cNvPr id="4" name="Text 2"/>
          <p:cNvSpPr/>
          <p:nvPr/>
        </p:nvSpPr>
        <p:spPr>
          <a:xfrm>
            <a:off x="566928" y="2148840"/>
            <a:ext cx="5943600" cy="621792"/>
          </a:xfrm>
          <a:prstGeom prst="rect">
            <a:avLst/>
          </a:prstGeom>
          <a:noFill/>
          <a:ln/>
        </p:spPr>
        <p:txBody>
          <a:bodyPr wrap="square" lIns="0" tIns="0" rIns="0" bIns="0" rtlCol="0" anchor="ctr"/>
          <a:lstStyle/>
          <a:p>
            <a:pPr indent="0" marL="0">
              <a:lnSpc>
                <a:spcPts val="1400"/>
              </a:lnSpc>
              <a:buNone/>
            </a:pPr>
            <a:r>
              <a:rPr lang="en-US" sz="1100" b="1" dirty="0">
                <a:solidFill>
                  <a:srgbClr val="E7B76B"/>
                </a:solidFill>
                <a:latin typeface="Calibri" pitchFamily="34" charset="0"/>
                <a:ea typeface="Calibri" pitchFamily="34" charset="-122"/>
                <a:cs typeface="Calibri" pitchFamily="34" charset="-120"/>
              </a:rPr>
              <a:t>Prediction, not presentation  —  </a:t>
            </a:r>
            <a:pPr indent="0" marL="0">
              <a:lnSpc>
                <a:spcPts val="1400"/>
              </a:lnSpc>
              <a:buNone/>
            </a:pPr>
            <a:r>
              <a:rPr lang="en-US" sz="1100" dirty="0">
                <a:solidFill>
                  <a:srgbClr val="C6D5E3"/>
                </a:solidFill>
                <a:latin typeface="Calibri" pitchFamily="34" charset="0"/>
                <a:ea typeface="Calibri" pitchFamily="34" charset="-122"/>
                <a:cs typeface="Calibri" pitchFamily="34" charset="-120"/>
              </a:rPr>
              <a:t>NetMHCIIpan scores peptide–MHC binding. It does not model antigen uptake, endosomal proteolysis, HLA-DM editing or endosomal stability.</a:t>
            </a:r>
            <a:endParaRPr lang="en-US" sz="1100" dirty="0"/>
          </a:p>
        </p:txBody>
      </p:sp>
      <p:sp>
        <p:nvSpPr>
          <p:cNvPr id="5" name="Text 3"/>
          <p:cNvSpPr/>
          <p:nvPr/>
        </p:nvSpPr>
        <p:spPr>
          <a:xfrm>
            <a:off x="566928" y="2807208"/>
            <a:ext cx="5943600" cy="621792"/>
          </a:xfrm>
          <a:prstGeom prst="rect">
            <a:avLst/>
          </a:prstGeom>
          <a:noFill/>
          <a:ln/>
        </p:spPr>
        <p:txBody>
          <a:bodyPr wrap="square" lIns="0" tIns="0" rIns="0" bIns="0" rtlCol="0" anchor="ctr"/>
          <a:lstStyle/>
          <a:p>
            <a:pPr indent="0" marL="0">
              <a:lnSpc>
                <a:spcPts val="1400"/>
              </a:lnSpc>
              <a:buNone/>
            </a:pPr>
            <a:r>
              <a:rPr lang="en-US" sz="1100" b="1" dirty="0">
                <a:solidFill>
                  <a:srgbClr val="E7B76B"/>
                </a:solidFill>
                <a:latin typeface="Calibri" pitchFamily="34" charset="0"/>
                <a:ea typeface="Calibri" pitchFamily="34" charset="-122"/>
                <a:cs typeface="Calibri" pitchFamily="34" charset="-120"/>
              </a:rPr>
              <a:t>DR only  —  </a:t>
            </a:r>
            <a:pPr indent="0" marL="0">
              <a:lnSpc>
                <a:spcPts val="1400"/>
              </a:lnSpc>
              <a:buNone/>
            </a:pPr>
            <a:r>
              <a:rPr lang="en-US" sz="1100" dirty="0">
                <a:solidFill>
                  <a:srgbClr val="C6D5E3"/>
                </a:solidFill>
                <a:latin typeface="Calibri" pitchFamily="34" charset="0"/>
                <a:ea typeface="Calibri" pitchFamily="34" charset="-122"/>
                <a:cs typeface="Calibri" pitchFamily="34" charset="-120"/>
              </a:rPr>
              <a:t>DP and DQ contribute to CD4 responses and are excluded by the panel specification. DQ is implicated in several biologic ADA responses.</a:t>
            </a:r>
            <a:endParaRPr lang="en-US" sz="1100" dirty="0"/>
          </a:p>
        </p:txBody>
      </p:sp>
      <p:sp>
        <p:nvSpPr>
          <p:cNvPr id="6" name="Text 4"/>
          <p:cNvSpPr/>
          <p:nvPr/>
        </p:nvSpPr>
        <p:spPr>
          <a:xfrm>
            <a:off x="566928" y="3465576"/>
            <a:ext cx="5943600" cy="621792"/>
          </a:xfrm>
          <a:prstGeom prst="rect">
            <a:avLst/>
          </a:prstGeom>
          <a:noFill/>
          <a:ln/>
        </p:spPr>
        <p:txBody>
          <a:bodyPr wrap="square" lIns="0" tIns="0" rIns="0" bIns="0" rtlCol="0" anchor="ctr"/>
          <a:lstStyle/>
          <a:p>
            <a:pPr indent="0" marL="0">
              <a:lnSpc>
                <a:spcPts val="1400"/>
              </a:lnSpc>
              <a:buNone/>
            </a:pPr>
            <a:r>
              <a:rPr lang="en-US" sz="1100" b="1" dirty="0">
                <a:solidFill>
                  <a:srgbClr val="E7B76B"/>
                </a:solidFill>
                <a:latin typeface="Calibri" pitchFamily="34" charset="0"/>
                <a:ea typeface="Calibri" pitchFamily="34" charset="-122"/>
                <a:cs typeface="Calibri" pitchFamily="34" charset="-120"/>
              </a:rPr>
              <a:t>pIRS is relative  —  </a:t>
            </a:r>
            <a:pPr indent="0" marL="0">
              <a:lnSpc>
                <a:spcPts val="1400"/>
              </a:lnSpc>
              <a:buNone/>
            </a:pPr>
            <a:r>
              <a:rPr lang="en-US" sz="1100" dirty="0">
                <a:solidFill>
                  <a:srgbClr val="C6D5E3"/>
                </a:solidFill>
                <a:latin typeface="Calibri" pitchFamily="34" charset="0"/>
                <a:ea typeface="Calibri" pitchFamily="34" charset="-122"/>
                <a:cs typeface="Calibri" pitchFamily="34" charset="-120"/>
              </a:rPr>
              <a:t>Readable only against the benchmarks in this batch. It is not a predicted ADA incidence, and no in-silico method available today predicts one.</a:t>
            </a:r>
            <a:endParaRPr lang="en-US" sz="1100" dirty="0"/>
          </a:p>
        </p:txBody>
      </p:sp>
      <p:sp>
        <p:nvSpPr>
          <p:cNvPr id="7" name="Text 5"/>
          <p:cNvSpPr/>
          <p:nvPr/>
        </p:nvSpPr>
        <p:spPr>
          <a:xfrm>
            <a:off x="566928" y="4123944"/>
            <a:ext cx="5943600" cy="621792"/>
          </a:xfrm>
          <a:prstGeom prst="rect">
            <a:avLst/>
          </a:prstGeom>
          <a:noFill/>
          <a:ln/>
        </p:spPr>
        <p:txBody>
          <a:bodyPr wrap="square" lIns="0" tIns="0" rIns="0" bIns="0" rtlCol="0" anchor="ctr"/>
          <a:lstStyle/>
          <a:p>
            <a:pPr indent="0" marL="0">
              <a:lnSpc>
                <a:spcPts val="1400"/>
              </a:lnSpc>
              <a:buNone/>
            </a:pPr>
            <a:r>
              <a:rPr lang="en-US" sz="1100" b="1" dirty="0">
                <a:solidFill>
                  <a:srgbClr val="E7B76B"/>
                </a:solidFill>
                <a:latin typeface="Calibri" pitchFamily="34" charset="0"/>
                <a:ea typeface="Calibri" pitchFamily="34" charset="-122"/>
                <a:cs typeface="Calibri" pitchFamily="34" charset="-120"/>
              </a:rPr>
              <a:t>No aggregation or adjuvant effect  —  </a:t>
            </a:r>
            <a:pPr indent="0" marL="0">
              <a:lnSpc>
                <a:spcPts val="1400"/>
              </a:lnSpc>
              <a:buNone/>
            </a:pPr>
            <a:r>
              <a:rPr lang="en-US" sz="1100" dirty="0">
                <a:solidFill>
                  <a:srgbClr val="C6D5E3"/>
                </a:solidFill>
                <a:latin typeface="Calibri" pitchFamily="34" charset="0"/>
                <a:ea typeface="Calibri" pitchFamily="34" charset="-122"/>
                <a:cs typeface="Calibri" pitchFamily="34" charset="-120"/>
              </a:rPr>
              <a:t>Aggregated or particulate impurity is substantially more immunogenic than monomer; sequence-based methods cannot see it.</a:t>
            </a:r>
            <a:endParaRPr lang="en-US" sz="1100" dirty="0"/>
          </a:p>
        </p:txBody>
      </p:sp>
      <p:sp>
        <p:nvSpPr>
          <p:cNvPr id="8" name="Text 6"/>
          <p:cNvSpPr/>
          <p:nvPr/>
        </p:nvSpPr>
        <p:spPr>
          <a:xfrm>
            <a:off x="566928" y="4782312"/>
            <a:ext cx="5943600" cy="621792"/>
          </a:xfrm>
          <a:prstGeom prst="rect">
            <a:avLst/>
          </a:prstGeom>
          <a:noFill/>
          <a:ln/>
        </p:spPr>
        <p:txBody>
          <a:bodyPr wrap="square" lIns="0" tIns="0" rIns="0" bIns="0" rtlCol="0" anchor="ctr"/>
          <a:lstStyle/>
          <a:p>
            <a:pPr indent="0" marL="0">
              <a:lnSpc>
                <a:spcPts val="1400"/>
              </a:lnSpc>
              <a:buNone/>
            </a:pPr>
            <a:r>
              <a:rPr lang="en-US" sz="1100" b="1" dirty="0">
                <a:solidFill>
                  <a:srgbClr val="E7B76B"/>
                </a:solidFill>
                <a:latin typeface="Calibri" pitchFamily="34" charset="0"/>
                <a:ea typeface="Calibri" pitchFamily="34" charset="-122"/>
                <a:cs typeface="Calibri" pitchFamily="34" charset="-120"/>
              </a:rPr>
              <a:t>The benchmark is an argument  —  </a:t>
            </a:r>
            <a:pPr indent="0" marL="0">
              <a:lnSpc>
                <a:spcPts val="1400"/>
              </a:lnSpc>
              <a:buNone/>
            </a:pPr>
            <a:r>
              <a:rPr lang="en-US" sz="1100" dirty="0">
                <a:solidFill>
                  <a:srgbClr val="C6D5E3"/>
                </a:solidFill>
                <a:latin typeface="Calibri" pitchFamily="34" charset="0"/>
                <a:ea typeface="Calibri" pitchFamily="34" charset="-122"/>
                <a:cs typeface="Calibri" pitchFamily="34" charset="-120"/>
              </a:rPr>
              <a:t>“Comparable predicted epitope content to Protein A” is an inference about risk, not evidence of it.</a:t>
            </a:r>
            <a:endParaRPr lang="en-US" sz="1100" dirty="0"/>
          </a:p>
        </p:txBody>
      </p:sp>
      <p:sp>
        <p:nvSpPr>
          <p:cNvPr id="9" name="Shape 7"/>
          <p:cNvSpPr/>
          <p:nvPr/>
        </p:nvSpPr>
        <p:spPr>
          <a:xfrm>
            <a:off x="6903720" y="1874520"/>
            <a:ext cx="4690872" cy="4069080"/>
          </a:xfrm>
          <a:prstGeom prst="roundRect">
            <a:avLst>
              <a:gd name="adj" fmla="val 1124"/>
            </a:avLst>
          </a:prstGeom>
          <a:solidFill>
            <a:srgbClr val="1B2E40"/>
          </a:solidFill>
          <a:ln w="12700">
            <a:solidFill>
              <a:srgbClr val="1B2E40"/>
            </a:solidFill>
            <a:prstDash val="solid"/>
          </a:ln>
        </p:spPr>
      </p:sp>
      <p:sp>
        <p:nvSpPr>
          <p:cNvPr id="10" name="Text 8"/>
          <p:cNvSpPr/>
          <p:nvPr/>
        </p:nvSpPr>
        <p:spPr>
          <a:xfrm>
            <a:off x="7178040" y="2057400"/>
            <a:ext cx="4206240"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Recommended confirmatory work — all RUO</a:t>
            </a:r>
            <a:endParaRPr lang="en-US" sz="1400" dirty="0"/>
          </a:p>
        </p:txBody>
      </p:sp>
      <p:sp>
        <p:nvSpPr>
          <p:cNvPr id="11" name="Shape 9"/>
          <p:cNvSpPr/>
          <p:nvPr/>
        </p:nvSpPr>
        <p:spPr>
          <a:xfrm>
            <a:off x="7178040" y="2633472"/>
            <a:ext cx="274320" cy="274320"/>
          </a:xfrm>
          <a:prstGeom prst="ellipse">
            <a:avLst/>
          </a:prstGeom>
          <a:solidFill>
            <a:srgbClr val="2F6F9F"/>
          </a:solidFill>
          <a:ln w="12700">
            <a:solidFill>
              <a:srgbClr val="2F6F9F"/>
            </a:solidFill>
            <a:prstDash val="solid"/>
          </a:ln>
        </p:spPr>
      </p:sp>
      <p:sp>
        <p:nvSpPr>
          <p:cNvPr id="12" name="Text 10"/>
          <p:cNvSpPr/>
          <p:nvPr/>
        </p:nvSpPr>
        <p:spPr>
          <a:xfrm>
            <a:off x="7178040" y="2642616"/>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1"/>
          <p:cNvSpPr/>
          <p:nvPr/>
        </p:nvSpPr>
        <p:spPr>
          <a:xfrm>
            <a:off x="7589520" y="2606040"/>
            <a:ext cx="3822192" cy="868680"/>
          </a:xfrm>
          <a:prstGeom prst="rect">
            <a:avLst/>
          </a:prstGeom>
          <a:noFill/>
          <a:ln/>
        </p:spPr>
        <p:txBody>
          <a:bodyPr wrap="square" lIns="0" tIns="0" rIns="0" bIns="0" rtlCol="0" anchor="ctr"/>
          <a:lstStyle/>
          <a:p>
            <a:pPr indent="0" marL="0">
              <a:lnSpc>
                <a:spcPts val="1300"/>
              </a:lnSpc>
              <a:buNone/>
            </a:pPr>
            <a:r>
              <a:rPr lang="en-US" sz="1050" b="1" dirty="0">
                <a:solidFill>
                  <a:srgbClr val="FFFFFF"/>
                </a:solidFill>
                <a:latin typeface="Calibri" pitchFamily="34" charset="0"/>
                <a:ea typeface="Calibri" pitchFamily="34" charset="-122"/>
                <a:cs typeface="Calibri" pitchFamily="34" charset="-120"/>
              </a:rPr>
              <a:t>HLA-DR competitive binding  </a:t>
            </a:r>
            <a:pPr indent="0" marL="0">
              <a:lnSpc>
                <a:spcPts val="1300"/>
              </a:lnSpc>
              <a:buNone/>
            </a:pPr>
            <a:r>
              <a:rPr lang="en-US" sz="1050" dirty="0">
                <a:solidFill>
                  <a:srgbClr val="9FB4C8"/>
                </a:solidFill>
                <a:latin typeface="Calibri" pitchFamily="34" charset="0"/>
                <a:ea typeface="Calibri" pitchFamily="34" charset="-122"/>
                <a:cs typeface="Calibri" pitchFamily="34" charset="-120"/>
              </a:rPr>
              <a:t>on the flagged peptides against the panel's dominant molecules — confirms the prediction directly. Days, lowest cost.</a:t>
            </a:r>
            <a:endParaRPr lang="en-US" sz="1050" dirty="0"/>
          </a:p>
        </p:txBody>
      </p:sp>
      <p:sp>
        <p:nvSpPr>
          <p:cNvPr id="14" name="Shape 12"/>
          <p:cNvSpPr/>
          <p:nvPr/>
        </p:nvSpPr>
        <p:spPr>
          <a:xfrm>
            <a:off x="7178040" y="3575304"/>
            <a:ext cx="274320" cy="274320"/>
          </a:xfrm>
          <a:prstGeom prst="ellipse">
            <a:avLst/>
          </a:prstGeom>
          <a:solidFill>
            <a:srgbClr val="2F6F9F"/>
          </a:solidFill>
          <a:ln w="12700">
            <a:solidFill>
              <a:srgbClr val="2F6F9F"/>
            </a:solidFill>
            <a:prstDash val="solid"/>
          </a:ln>
        </p:spPr>
      </p:sp>
      <p:sp>
        <p:nvSpPr>
          <p:cNvPr id="15" name="Text 13"/>
          <p:cNvSpPr/>
          <p:nvPr/>
        </p:nvSpPr>
        <p:spPr>
          <a:xfrm>
            <a:off x="7178040" y="3584448"/>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p:nvPr/>
        </p:nvSpPr>
        <p:spPr>
          <a:xfrm>
            <a:off x="7589520" y="3547872"/>
            <a:ext cx="3822192" cy="868680"/>
          </a:xfrm>
          <a:prstGeom prst="rect">
            <a:avLst/>
          </a:prstGeom>
          <a:noFill/>
          <a:ln/>
        </p:spPr>
        <p:txBody>
          <a:bodyPr wrap="square" lIns="0" tIns="0" rIns="0" bIns="0" rtlCol="0" anchor="ctr"/>
          <a:lstStyle/>
          <a:p>
            <a:pPr indent="0" marL="0">
              <a:lnSpc>
                <a:spcPts val="1300"/>
              </a:lnSpc>
              <a:buNone/>
            </a:pPr>
            <a:r>
              <a:rPr lang="en-US" sz="1050" b="1" dirty="0">
                <a:solidFill>
                  <a:srgbClr val="FFFFFF"/>
                </a:solidFill>
                <a:latin typeface="Calibri" pitchFamily="34" charset="0"/>
                <a:ea typeface="Calibri" pitchFamily="34" charset="-122"/>
                <a:cs typeface="Calibri" pitchFamily="34" charset="-120"/>
              </a:rPr>
              <a:t>MAPPs  </a:t>
            </a:r>
            <a:pPr indent="0" marL="0">
              <a:lnSpc>
                <a:spcPts val="1300"/>
              </a:lnSpc>
              <a:buNone/>
            </a:pPr>
            <a:r>
              <a:rPr lang="en-US" sz="1050" dirty="0">
                <a:solidFill>
                  <a:srgbClr val="9FB4C8"/>
                </a:solidFill>
                <a:latin typeface="Calibri" pitchFamily="34" charset="0"/>
                <a:ea typeface="Calibri" pitchFamily="34" charset="-122"/>
                <a:cs typeface="Calibri" pitchFamily="34" charset="-120"/>
              </a:rPr>
              <a:t>on monocyte-derived dendritic cells from HLA-typed donors — shows what is actually processed and presented from the intact ligand.</a:t>
            </a:r>
            <a:endParaRPr lang="en-US" sz="1050" dirty="0"/>
          </a:p>
        </p:txBody>
      </p:sp>
      <p:sp>
        <p:nvSpPr>
          <p:cNvPr id="17" name="Shape 15"/>
          <p:cNvSpPr/>
          <p:nvPr/>
        </p:nvSpPr>
        <p:spPr>
          <a:xfrm>
            <a:off x="7178040" y="4517136"/>
            <a:ext cx="274320" cy="274320"/>
          </a:xfrm>
          <a:prstGeom prst="ellipse">
            <a:avLst/>
          </a:prstGeom>
          <a:solidFill>
            <a:srgbClr val="2F6F9F"/>
          </a:solidFill>
          <a:ln w="12700">
            <a:solidFill>
              <a:srgbClr val="2F6F9F"/>
            </a:solidFill>
            <a:prstDash val="solid"/>
          </a:ln>
        </p:spPr>
      </p:sp>
      <p:sp>
        <p:nvSpPr>
          <p:cNvPr id="18" name="Text 16"/>
          <p:cNvSpPr/>
          <p:nvPr/>
        </p:nvSpPr>
        <p:spPr>
          <a:xfrm>
            <a:off x="7178040" y="4526280"/>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7589520" y="4489704"/>
            <a:ext cx="3822192" cy="868680"/>
          </a:xfrm>
          <a:prstGeom prst="rect">
            <a:avLst/>
          </a:prstGeom>
          <a:noFill/>
          <a:ln/>
        </p:spPr>
        <p:txBody>
          <a:bodyPr wrap="square" lIns="0" tIns="0" rIns="0" bIns="0" rtlCol="0" anchor="ctr"/>
          <a:lstStyle/>
          <a:p>
            <a:pPr indent="0" marL="0">
              <a:lnSpc>
                <a:spcPts val="1300"/>
              </a:lnSpc>
              <a:buNone/>
            </a:pPr>
            <a:r>
              <a:rPr lang="en-US" sz="1050" b="1" dirty="0">
                <a:solidFill>
                  <a:srgbClr val="FFFFFF"/>
                </a:solidFill>
                <a:latin typeface="Calibri" pitchFamily="34" charset="0"/>
                <a:ea typeface="Calibri" pitchFamily="34" charset="-122"/>
                <a:cs typeface="Calibri" pitchFamily="34" charset="-120"/>
              </a:rPr>
              <a:t>Ex-vivo PBMC / CD4 proliferation  </a:t>
            </a:r>
            <a:pPr indent="0" marL="0">
              <a:lnSpc>
                <a:spcPts val="1300"/>
              </a:lnSpc>
              <a:buNone/>
            </a:pPr>
            <a:r>
              <a:rPr lang="en-US" sz="1050" dirty="0">
                <a:solidFill>
                  <a:srgbClr val="9FB4C8"/>
                </a:solidFill>
                <a:latin typeface="Calibri" pitchFamily="34" charset="0"/>
                <a:ea typeface="Calibri" pitchFamily="34" charset="-122"/>
                <a:cs typeface="Calibri" pitchFamily="34" charset="-120"/>
              </a:rPr>
              <a:t>across ~50 HLA-typed donors matched to this panel — the closest available surrogate for clinical ADA risk.</a:t>
            </a:r>
            <a:endParaRPr lang="en-US" sz="1050" dirty="0"/>
          </a:p>
        </p:txBody>
      </p:sp>
      <p:sp>
        <p:nvSpPr>
          <p:cNvPr id="20" name="Text 18"/>
          <p:cNvSpPr/>
          <p:nvPr/>
        </p:nvSpPr>
        <p:spPr>
          <a:xfrm>
            <a:off x="7178040" y="5532120"/>
            <a:ext cx="4233672" cy="411480"/>
          </a:xfrm>
          <a:prstGeom prst="rect">
            <a:avLst/>
          </a:prstGeom>
          <a:noFill/>
          <a:ln/>
        </p:spPr>
        <p:txBody>
          <a:bodyPr wrap="square" lIns="0" tIns="0" rIns="0" bIns="0" rtlCol="0" anchor="ctr"/>
          <a:lstStyle/>
          <a:p>
            <a:pPr indent="0" marL="0">
              <a:buNone/>
            </a:pPr>
            <a:r>
              <a:rPr lang="en-US" sz="1000" i="1" dirty="0">
                <a:solidFill>
                  <a:srgbClr val="7FA8C9"/>
                </a:solidFill>
                <a:latin typeface="Calibri" pitchFamily="34" charset="0"/>
                <a:ea typeface="Calibri" pitchFamily="34" charset="-122"/>
                <a:cs typeface="Calibri" pitchFamily="34" charset="-120"/>
              </a:rPr>
              <a:t>All three are scoped by the peptide list this pipeline produces — which is the practical point of running it.</a:t>
            </a:r>
            <a:endParaRPr lang="en-US" sz="1000" dirty="0"/>
          </a:p>
        </p:txBody>
      </p:sp>
      <p:sp>
        <p:nvSpPr>
          <p:cNvPr id="21" name="Text 19"/>
          <p:cNvSpPr/>
          <p:nvPr/>
        </p:nvSpPr>
        <p:spPr>
          <a:xfrm>
            <a:off x="566928" y="6035040"/>
            <a:ext cx="11027664" cy="274320"/>
          </a:xfrm>
          <a:prstGeom prst="rect">
            <a:avLst/>
          </a:prstGeom>
          <a:noFill/>
          <a:ln/>
        </p:spPr>
        <p:txBody>
          <a:bodyPr wrap="square" lIns="0" tIns="0" rIns="0" bIns="0" rtlCol="0" anchor="ctr"/>
          <a:lstStyle/>
          <a:p>
            <a:pPr indent="0" marL="0">
              <a:buNone/>
            </a:pPr>
            <a:r>
              <a:rPr lang="en-US" sz="1000" dirty="0">
                <a:solidFill>
                  <a:srgbClr val="6E8AA3"/>
                </a:solidFill>
                <a:latin typeface="Calibri" pitchFamily="34" charset="0"/>
                <a:ea typeface="Calibri" pitchFamily="34" charset="-122"/>
                <a:cs typeface="Calibri" pitchFamily="34" charset="-120"/>
              </a:rPr>
              <a:t>Research use only — not for regulatory submission without confirmatory wet-lab data.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AAV Ligand Immunogenicity</dc:title>
  <dc:subject>PptxGenJS Presentation</dc:subject>
  <dc:creator>hla_ligand_immunogenicity pipeline</dc:creator>
  <cp:lastModifiedBy>hla_ligand_immunogenicity pipeline</cp:lastModifiedBy>
  <cp:revision>1</cp:revision>
  <dcterms:created xsi:type="dcterms:W3CDTF">2026-08-25T23:16:15Z</dcterms:created>
  <dcterms:modified xsi:type="dcterms:W3CDTF">2026-08-25T23:16:15Z</dcterms:modified>
</cp:coreProperties>
</file>