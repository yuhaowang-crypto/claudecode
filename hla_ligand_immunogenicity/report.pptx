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article is a public stand-in (PDB 9DC3) so the whole pipeline is reproducible. Proprietary ligands drop in as de-identified FASTA and every module runs unchanged.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1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057400"/>
            <a:ext cx="1102766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HLA-DR immunogenicity of an AAV affinity ligand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66928" y="3520440"/>
            <a:ext cx="96560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E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AAVX_VHH · 126 aa camelid VHH · PDB 9DC3 entity 2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E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25-molecule HLA-DR panel · 97.3% weighted US/EU coverage · benchmarked against 9 comparators and controls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60020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PROCESS-RELATED IMPURITY  ·  RESEARCH USE ONLY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594360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NetMHCIIpan EL + BA  ·  human-self tolerance filter  ·  population-weighted scoring  ·  BepiPred-2.0  ·  exposure banding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2070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F2F6F9"/>
          </a:solidFill>
          <a:ln w="9525">
            <a:solidFill>
              <a:srgbClr val="DCE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29844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2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2.9×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13232" y="17556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PROTEIN A Z-DOMAIN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13232" y="198424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affinity ligand with the longest controlled clinical leachate history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74136" y="12070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F2F6F9"/>
          </a:solidFill>
          <a:ln w="952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29844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23B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520440" y="17556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NON-SELF EPITOPES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520440" y="198424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 total; 1 matched human self and were down-weighted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181344" y="12070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F2F6F9"/>
          </a:solidFill>
          <a:ln w="9525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29844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7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29%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327648" y="17556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US/EU POPULATION AT RISK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327648" y="198424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 DR molecule predicted to present ≥1 non-self epitope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988552" y="12070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F2F6F9"/>
          </a:solidFill>
          <a:ln w="9525">
            <a:solidFill>
              <a:srgbClr val="DC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34856" y="129844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6F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6/25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134856" y="17556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PROMISCUITY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134856" y="198424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molecules presenting the dominant epitope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2743200"/>
            <a:ext cx="11027664" cy="1024128"/>
          </a:xfrm>
          <a:prstGeom prst="roundRect">
            <a:avLst>
              <a:gd name="adj" fmla="val 5357"/>
            </a:avLst>
          </a:prstGeom>
          <a:solidFill>
            <a:srgbClr val="FBF1F1"/>
          </a:solidFill>
          <a:ln w="9525">
            <a:solidFill>
              <a:srgbClr val="E8CDC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2852928"/>
            <a:ext cx="106619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B2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 is concentrated, not diffuse.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Residues 47–56, binding core FVAVQDITA, peak 15-mer KEREFVAVQDITASN — presented by 7 of 25 DR molecules, reaching 29% of the weighted US/EU population. That single peptide is what a confirmatory assay should be built around; the rest of the sequence is unremarkable for a non-human protein this size.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3504" y="4032504"/>
            <a:ext cx="128016" cy="128016"/>
          </a:xfrm>
          <a:prstGeom prst="ellipse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3931920"/>
            <a:ext cx="106619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score 0.38 population-weighted non-self epitope units / 100 aa, against 0.13 for the Protein A Z-domain — same batch, same panel, same thresholds.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03504" y="4636008"/>
            <a:ext cx="128016" cy="128016"/>
          </a:xfrm>
          <a:prstGeom prst="ellipse">
            <a:avLst/>
          </a:prstGeom>
          <a:solidFill>
            <a:srgbClr val="3D8A6B"/>
          </a:solidFill>
          <a:ln w="12700">
            <a:solidFill>
              <a:srgbClr val="3D8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7824" y="4535424"/>
            <a:ext cx="106619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controls all pass: the panel finds the tetanus universal epitopes, and the tolerance filter suppresses the human self controls without flattening the foreign ligands.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03504" y="5239512"/>
            <a:ext cx="128016" cy="128016"/>
          </a:xfrm>
          <a:prstGeom prst="ellipse">
            <a:avLst/>
          </a:prstGeom>
          <a:solidFill>
            <a:srgbClr val="2F6F9F"/>
          </a:solidFill>
          <a:ln w="12700">
            <a:solidFill>
              <a:srgbClr val="2F6F9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7824" y="5138928"/>
            <a:ext cx="106619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Requiring the binding-affinity head to agree with eluted-ligand scoring removed 16% of strong-binder calls across the batch — peptides that look presented but do not measurably bind.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03504" y="5843016"/>
            <a:ext cx="128016" cy="128016"/>
          </a:xfrm>
          <a:prstGeom prst="ellipse">
            <a:avLst/>
          </a:prstGeom>
          <a:solidFill>
            <a:srgbClr val="3D8A6B"/>
          </a:solidFill>
          <a:ln w="12700">
            <a:solidFill>
              <a:srgbClr val="3D8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5742432"/>
            <a:ext cx="106619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is intrinsic potential × dose. At ≤1 ng ligand / mg product and a 10 mg dose the exposure is ~0.01 µg — the regime in which qualified Protein A leachate has decades of clinical use.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REVIEW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single-tool DR scan cannot tell you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11027664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651760"/>
                <a:gridCol w="7598664"/>
              </a:tblGrid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 step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failure mode it fixes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designed against measured coverage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 subset of the IEDB class II reference set is widely used as "broadly representative". Measured, it reaches 84.2% weighted US/EU DRB1 coverage — it cannot meet a 95–98% requirement at any size. A greedy build to a stated target reaches 97.3% at 21 DRB1 molecules.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orthogonal prediction heads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Eluted-ligand scoring alone over-calls: it rewards motif-like peptides with poor measured affinity. Requiring EL and BA agreement dropped 16% of strong-binder calls.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 / pre-existing-tolerance filter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DR hits in an antibody-derived ligand are framework cores near-identical to human germline V. Counting them inflates every VHH, scFv and Fab ligand identically and destroys the ranking. Validated here against a shuffled-sequence null.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M5–M6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weighting + benchmark calibration with controls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"13 strong binders" is uninterpretable. Weighting each hit by the fraction of the US/EU population carrying the presenting molecule, then expressing it against Protein A Z-domain, makes it a comparison rather than a count.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6F9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M7–M8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B-cell / ADA layer and exposure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B4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measured endpoint is an anti-drug antibody assay, and impurity risk scales with µg delivered per dose. A T-cell-only, dose-free score cannot reach a risk call.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144768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 (anchor-position deimmunisation scan) is optional — it only matters if the ligand itself can be re-engineered.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PANEL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panel had to be designed, not inherited</a:t>
            </a:r>
            <a:endParaRPr lang="en-US" sz="2700" dirty="0"/>
          </a:p>
        </p:txBody>
      </p:sp>
      <p:pic>
        <p:nvPicPr>
          <p:cNvPr id="4" name="Image 0" descr="/home/user/ClaudeCode/hla_ligand_immunogenicity/figures/fig1_panel_cove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2144"/>
            <a:ext cx="11027664" cy="3246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590288"/>
            <a:ext cx="110276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700" b="1" dirty="0">
                <a:solidFill>
                  <a:srgbClr val="2F6F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84.2% → 97.3%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US/EU DRB1 phenotypic coverage, 15 → 25 DR molecules. The missing coverage in the legacy set sits in alleles it does not contain — DRB1*13:01, *04:04, *11:04, *16:01, *14:01 — so no amount of re-weighting fixes it.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5605272"/>
            <a:ext cx="11027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— DRB1*  07:01 · 03:01 · 15:01 · 01:01 · 11:01 · 04:01 · 13:01 · 13:02 · 04:04 · 11:04 · 16:01 · 14:01 · 04:07 · 12:01 · 09:01 · 08:02 · 01:02 · 08:01 · 15:03 · 13:03 · 04:05    +    DRB3*01:01 · DRB3*02:02 · DRB4*01:01 · DRB5*01:01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053328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single-locus Hardy–Weinberg over the IEDB tables, reproducing the IEDB CLI to two decimals. DRB3/4/5 carry no frequencies there, so they add presentation breadth without entering this arithmetic. US Asian lands at 85% and US Amerindian at 67%: a US/EU-weighted objective does not buy those populations.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PREDICTION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Binding landscape across the full panel</a:t>
            </a:r>
            <a:endParaRPr lang="en-US" sz="2700" dirty="0"/>
          </a:p>
        </p:txBody>
      </p:sp>
      <p:pic>
        <p:nvPicPr>
          <p:cNvPr id="4" name="Image 0" descr="/home/user/ClaudeCode/hla_ligand_immunogenicity/figures/fig2_binding_landsca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11027664" cy="3977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193792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700" b="1" dirty="0">
                <a:solidFill>
                  <a:srgbClr val="2F6F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203 → 170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strong-binder calls across the batch once the binding-affinity head has to agree with eluted-ligand scoring (BA %Rank &lt; 10). 16% of EL-only calls are peptides that look presented but do not measurably bind; every downstream number uses the consensus call.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6108192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15-mer scan, EL %Rank &lt; 1 = strong, &lt; 5 = weak. Boxes mark consolidated epitope clusters; the track below counts DR molecules with a strong call at each frame.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TOLERANCE FILTER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Framework hits are not risk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188720"/>
            <a:ext cx="3541776" cy="1298448"/>
          </a:xfrm>
          <a:prstGeom prst="roundRect">
            <a:avLst>
              <a:gd name="adj" fmla="val 4225"/>
            </a:avLst>
          </a:prstGeom>
          <a:solidFill>
            <a:srgbClr val="F2F6F9"/>
          </a:solidFill>
          <a:ln w="9525">
            <a:solidFill>
              <a:srgbClr val="DCE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280160"/>
            <a:ext cx="3249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17.6%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13232" y="1737360"/>
            <a:ext cx="3249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 THAT ARE EXACT HUMAN 9-MERS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13232" y="1965960"/>
            <a:ext cx="3249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peptide itself occurs in the human proteome — weight 0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09872" y="1188720"/>
            <a:ext cx="3541776" cy="1298448"/>
          </a:xfrm>
          <a:prstGeom prst="roundRect">
            <a:avLst>
              <a:gd name="adj" fmla="val 4225"/>
            </a:avLst>
          </a:prstGeom>
          <a:solidFill>
            <a:srgbClr val="F2F6F9"/>
          </a:solidFill>
          <a:ln w="952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56176" y="1280160"/>
            <a:ext cx="3249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75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456176" y="1737360"/>
            <a:ext cx="3249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SUBSTITUTION FROM HUMAN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456176" y="1965960"/>
            <a:ext cx="3249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8/9 identity to a human 9-mer — weight 0.35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052816" y="1188720"/>
            <a:ext cx="3541776" cy="1298448"/>
          </a:xfrm>
          <a:prstGeom prst="roundRect">
            <a:avLst>
              <a:gd name="adj" fmla="val 4225"/>
            </a:avLst>
          </a:prstGeom>
          <a:solidFill>
            <a:srgbClr val="F2F6F9"/>
          </a:solidFill>
          <a:ln w="9525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9120" y="1280160"/>
            <a:ext cx="3249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F6F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20.14×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199120" y="1737360"/>
            <a:ext cx="3249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OVER NULL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199120" y="1965960"/>
            <a:ext cx="3249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cores 22.4% vs shuffled-sequence null 1.1%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2834640"/>
            <a:ext cx="11027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is validated, not asserted.
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the identical screen on cores drawn from shuffled versions of the same sequences — same composition, no real self-similarity — gives 1.1% at the 8/9 cut against 22.4% for real cores. A 5-of-9 "TCR-face" screen, the obvious shortcut, was tried first and discarded: with only five positions specified it matches the human proteome by chance several times per query and flags nearly everything.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343400"/>
            <a:ext cx="11027664" cy="868680"/>
          </a:xfrm>
          <a:prstGeom prst="roundRect">
            <a:avLst>
              <a:gd name="adj" fmla="val 6316"/>
            </a:avLst>
          </a:prstGeom>
          <a:solidFill>
            <a:srgbClr val="F2F6F9"/>
          </a:solidFill>
          <a:ln w="9525">
            <a:solidFill>
              <a:srgbClr val="DC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453128"/>
            <a:ext cx="106619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filter discriminates rather than deletes: the human self controls lose up to 100% of their unfiltered score, while the test article loses 0%. Every flagged core is written out with the human protein it matched, so each call is checkable.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66928" y="5486400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UniProt Swiss-Prot Homo sapiens. This is a screen, not JanusMatrix — it does not require the human counterpart to bind the same allele, so it errs toward calling more peptides tolerised.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5–6 · SCORING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Calibrated against benchmarks and controls in the same batch</a:t>
            </a:r>
            <a:endParaRPr lang="en-US" sz="2700" dirty="0"/>
          </a:p>
        </p:txBody>
      </p:sp>
      <p:pic>
        <p:nvPicPr>
          <p:cNvPr id="4" name="Image 0" descr="/home/user/ClaudeCode/hla_ligand_immunogenicity/figures/fig3_calibrated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7280"/>
            <a:ext cx="11027664" cy="356616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800600"/>
          <a:ext cx="11027664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095744"/>
                <a:gridCol w="8229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suitability check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universal epitopes detected with multi-allele breadth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B4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TT_p2_region 5/25 DR at %Rank&lt;5 (0 at &lt;1, best 1.4); TT_p30_region 5/25 DR at %Rank&lt;5 (2 at &lt;1, best 0.64)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 controls suppressed by tolerance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B4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HumanVH3_23_germline pIRS 0.00 (raw 0.37); HSA_D1 pIRS 0.00 (raw 0.13)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tolerance filter discriminates self from foreign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B4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score drop: self 100.0% vs ligands 10.6%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anchor scored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B4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ProteinA_Z pIRS 0.13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EPITOPE CLUSTERS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risk actually sits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11027664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1143000"/>
                <a:gridCol w="1783080"/>
                <a:gridCol w="868680"/>
                <a:gridCol w="1143000"/>
                <a:gridCol w="1463040"/>
                <a:gridCol w="170078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15-mer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%Rank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 molecules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US/EU presenting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FRQAPGKER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MGWFRQAPGKEREFV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FVAVQDITA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KEREFVAVQDITASN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FTLSRDNAK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KGRFTLSRDNAKNTA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tolerised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YLQMNNLKP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NTAYLQMNNLKPEDT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3/25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27706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epitopes by promiscuity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063240"/>
          <a:ext cx="11027664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143000"/>
                <a:gridCol w="1783080"/>
                <a:gridCol w="868680"/>
                <a:gridCol w="502920"/>
                <a:gridCol w="731520"/>
                <a:gridCol w="1188720"/>
                <a:gridCol w="4306824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15-mer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%Rank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Presenting molecules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FVAVQDITA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KEREFVAVQDITASN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DRB1*04:01 DRB1*04:04 DRB1*04:05 DRB1*04:07 DRB1*08:02 DRB1*16:01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YLQMNNLKP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NTAYLQMNNLKPEDT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DRB1*04:01 DRB1*04:07 DRB1*16:01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FRQAPGKER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MGWFRQAPGKEREFV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DRB5*01:01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VAVQDITAS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REFVAVQDITASNTH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DRB4*01:01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FTLSRDNAK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KGRFTLSRDNAKNTA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 human 9mer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DRB5*01:01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· ADA LAYER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measured endpoint is an antibody, not a T cell</a:t>
            </a:r>
            <a:endParaRPr lang="en-US" sz="2700" dirty="0"/>
          </a:p>
        </p:txBody>
      </p:sp>
      <p:pic>
        <p:nvPicPr>
          <p:cNvPr id="4" name="Image 0" descr="/home/user/ClaudeCode/hla_ligand_immunogenicity/figures/fig4_tb_coinc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15568"/>
            <a:ext cx="11027664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069080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 cell only class-switches with help from a CD4 T cell recognising a peptide from the same protein. The regions worth taking into wet-lab work first are those where a non-self DR cluster and a predicted B-cell epitope coincide — shaded above.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663440"/>
          <a:ext cx="11027664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554480"/>
                <a:gridCol w="1371600"/>
                <a:gridCol w="1097280"/>
                <a:gridCol w="4443984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T-cell cluster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pop presenting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B-cell 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Overlap (aa)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 sequence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47-56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FVAVQDITA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53-63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ITASNTHYSSA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66928" y="6172200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BepiPred-2.0 linear B-cell propensity is the weakest model in this pipeline — most real ADA epitopes are conformational. This layer prioritises regions; it is never a standalone claim.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· EXPOSURE CONTEXT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Intrinsic risk × dose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34440"/>
          <a:ext cx="1102766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253996"/>
                <a:gridCol w="2253996"/>
                <a:gridCol w="2253996"/>
                <a:gridCol w="225399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Leachate \ dose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mg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mg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ng/mg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 µg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negligible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 µg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negligible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µg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97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µg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97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ng/mg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 µg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negligible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µg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97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µg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97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 µg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ng/mg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µg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8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97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µg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C97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 µg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µg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3822192"/>
            <a:ext cx="11027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leached ligand is an impurity, and impurity risk is intrinsic potential multiplied by how much a patient receives. The intrinsic score places this ligand at 2.9× the Protein A Z-domain; the grid above decides whether that multiple matters for a given product.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5989320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 are an internal triage convention, not a regulatory threshold. No agency publishes a numeric leachate immunogenicity limit; the ICH Q6B / EMA expectation is control to a justified, consistently achieved level. Replace this grid with your product's measured leachate and dose.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· DEIMMUNISATION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548640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ligand can be re-engineered</a:t>
            </a:r>
            <a:endParaRPr lang="en-US" sz="2700" dirty="0"/>
          </a:p>
        </p:txBody>
      </p:sp>
      <p:pic>
        <p:nvPicPr>
          <p:cNvPr id="4" name="Image 0" descr="/home/user/ClaudeCode/hla_ligand_immunogenicity/figures/fig5_deimmuniz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88720"/>
            <a:ext cx="5486400" cy="3017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27648" y="1188720"/>
            <a:ext cx="526694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Anchor-position saturation scan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substitution at each MHC-II anchor pocket (P1, P4, P6, P9) of the dominant core was re-scored across the full panel. Wild type is presented by 8 DR molecules reaching 40% of the weighted population; the best variants drop that to single digits.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BLOSUM62 and the human germline residue at the aligned position are reported because a substitution that abolishes DR binding and breaks the fold is not a design. Germline-matching changes are the ones least likely to create a new epitope or destabilise the framework.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34840"/>
          <a:ext cx="11027664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371600"/>
                <a:gridCol w="640080"/>
                <a:gridCol w="914400"/>
                <a:gridCol w="914400"/>
                <a:gridCol w="1005840"/>
                <a:gridCol w="352958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% pop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BLOSUM62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60" kern="0" dirty="0">
                          <a:solidFill>
                            <a:srgbClr val="6374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Germline aa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9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P1_F47H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F-&gt;H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HVAVQDITA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7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P9_A55K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A-&gt;K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FVAVQDITK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7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P9_A55R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A-&gt;R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FVAVQDITR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7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P1_F47A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F-&gt;A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AVAVQDITA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7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P1_F47C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F-&gt;C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CVAVQDITA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7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P1_F47S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F-&gt;S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SVAVQDITA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7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P1_F47T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F-&gt;T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TVAVQDITA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23B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75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66928" y="6291072"/>
            <a:ext cx="11027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37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presentation only. Effect on ligand–target affinity, resin capacity and alkaline stability is not modelled; any candidate goes back through binding and stability screens before it means anything.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1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is, and what it is not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1188720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EC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In-silico DR screening ranks and localises risk. It does not measure it.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2148840"/>
            <a:ext cx="5943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E7B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Prediction, not presentation  —  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NetMHCIIpan scores peptide–MHC binding. It does not model antigen uptake, endosomal proteolysis, HLA-DM editing or endosomal stability.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2807208"/>
            <a:ext cx="5943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E7B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only  —  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 and DQ contribute to CD4 responses and are excluded by the panel specification. DQ is implicated in several biologic ADA responses.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3465576"/>
            <a:ext cx="5943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E7B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pIRS is relative  —  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Readable only against the benchmarks in this batch. It is not a predicted ADA incidence, and no in-silico method available today predicts one.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4123944"/>
            <a:ext cx="5943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E7B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aggregation or adjuvant effect  —  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or particulate impurity is substantially more immunogenic than monomer; sequence-based methods cannot see it.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4782312"/>
            <a:ext cx="5943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E7B7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is an argument  —  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D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“Comparable predicted epitope content to Protein A” is an inference about risk, not evidence of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903720" y="1874520"/>
            <a:ext cx="4690872" cy="4069080"/>
          </a:xfrm>
          <a:prstGeom prst="roundRect">
            <a:avLst>
              <a:gd name="adj" fmla="val 1124"/>
            </a:avLst>
          </a:prstGeom>
          <a:solidFill>
            <a:srgbClr val="1B2E40"/>
          </a:solidFill>
          <a:ln w="12700">
            <a:solidFill>
              <a:srgbClr val="1B2E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78040" y="2057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confirmatory work — all RUO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178040" y="2633472"/>
            <a:ext cx="274320" cy="274320"/>
          </a:xfrm>
          <a:prstGeom prst="ellipse">
            <a:avLst/>
          </a:prstGeom>
          <a:solidFill>
            <a:srgbClr val="2F6F9F"/>
          </a:solidFill>
          <a:ln w="12700">
            <a:solidFill>
              <a:srgbClr val="2F6F9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2642616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589520" y="2606040"/>
            <a:ext cx="3822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HLA-DR competitive binding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flagged peptides against the panel's dominant molecules — confirms the prediction directly. Days, lowest cost.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78040" y="3575304"/>
            <a:ext cx="274320" cy="274320"/>
          </a:xfrm>
          <a:prstGeom prst="ellipse">
            <a:avLst/>
          </a:prstGeom>
          <a:solidFill>
            <a:srgbClr val="2F6F9F"/>
          </a:solidFill>
          <a:ln w="12700">
            <a:solidFill>
              <a:srgbClr val="2F6F9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78040" y="3584448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589520" y="3547872"/>
            <a:ext cx="3822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MAPPs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monocyte-derived dendritic cells from HLA-typed donors — shows what is actually processed and presented from the intact ligand.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78040" y="4517136"/>
            <a:ext cx="274320" cy="274320"/>
          </a:xfrm>
          <a:prstGeom prst="ellipse">
            <a:avLst/>
          </a:prstGeom>
          <a:solidFill>
            <a:srgbClr val="2F6F9F"/>
          </a:solidFill>
          <a:ln w="12700">
            <a:solidFill>
              <a:srgbClr val="2F6F9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78040" y="4526280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89520" y="4489704"/>
            <a:ext cx="38221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Ex-vivo PBMC / CD4 proliferation  </a:t>
            </a:r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~50 HLA-typed donors matched to this panel — the closest available surrogate for clinical ADA risk.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178040" y="5532120"/>
            <a:ext cx="4233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are scoped by the peptide list this pipeline produces — which is the practical point of running it.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6928" y="603504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use only — not for regulatory submission without confirmatory wet-lab data.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AAV Ligand Immunogenicity</dc:title>
  <dc:subject>PptxGenJS Presentation</dc:subject>
  <dc:creator>hla_ligand_immunogenicity pipeline</dc:creator>
  <cp:lastModifiedBy>hla_ligand_immunogenicity pipeline</cp:lastModifiedBy>
  <cp:revision>1</cp:revision>
  <dcterms:created xsi:type="dcterms:W3CDTF">2026-08-25T18:04:17Z</dcterms:created>
  <dcterms:modified xsi:type="dcterms:W3CDTF">2026-08-25T18:04:17Z</dcterms:modified>
</cp:coreProperties>
</file>