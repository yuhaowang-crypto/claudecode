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228600" cy="1234440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79EE"/>
                </a:solidFill>
                <a:latin typeface="Liberation Sans"/>
              </a:rPr>
              <a:t>COMPUTATIONAL IMMUNOGENICITY ASSESSMENT — WORKFLOW v4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FFFFFF"/>
                </a:solidFill>
                <a:latin typeface="Liberation Sans"/>
              </a:rPr>
              <a:t>HLA-DR Immunogenicity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BBBBCC"/>
                </a:solidFill>
                <a:latin typeface="Liberation Sans"/>
              </a:rPr>
              <a:t>dsRNA Affinity Ligand 7071-A08  ·  132 aa  ·  Process-Related Impurity (Leached Ligand)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12064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FFFFF"/>
                </a:solidFill>
                <a:latin typeface="Liberation Sans"/>
              </a:rPr>
              <a:t>NetMHCIIpan-4.3 (EL + BA, %Rank)  |  Verified 23-Allele HLA-DR Panel  |  US 97.8% / EU 97.8% Panel Coverage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9999AA"/>
                </a:solidFill>
                <a:latin typeface="Liberation Sans"/>
              </a:rPr>
              <a:t>RUO — Research Use Only  |  IEDB MHC-II API + Population Coverage + CD4EpiScore  |  Specificity filters &amp; 6-molecule control benchmark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7071-A08 dsRNA Ligand — HLA-DR Immunogenicity at a Glance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71600"/>
            <a:ext cx="2212848" cy="13716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71600"/>
            <a:ext cx="2212848" cy="64008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499616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0279EE"/>
                </a:solidFill>
                <a:latin typeface="Liberation Sans"/>
              </a:rPr>
              <a:t>132 aa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" y="202996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  <a:latin typeface="Liberation Sans"/>
              </a:rPr>
              <a:t>Sequence Length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2304288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De-identified proprietary ligand; QC pass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25496" y="1371600"/>
            <a:ext cx="2212848" cy="13716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25496" y="1371600"/>
            <a:ext cx="2212848" cy="64008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35224" y="1499616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D55E00"/>
                </a:solidFill>
                <a:latin typeface="Liberation Sans"/>
              </a:rPr>
              <a:t>30 / 118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35224" y="202996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  <a:latin typeface="Liberation Sans"/>
              </a:rPr>
              <a:t>Peptides with SB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5224" y="2304288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25.4% of 15-mers (23-allele panel)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48072" y="1371600"/>
            <a:ext cx="2212848" cy="13716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48072" y="1371600"/>
            <a:ext cx="2212848" cy="64008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499616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D55E00"/>
                </a:solidFill>
                <a:latin typeface="Liberation Sans"/>
              </a:rPr>
              <a:t>5 / 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02996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  <a:latin typeface="Liberation Sans"/>
              </a:rPr>
              <a:t>Peak Promiscuity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304288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Pos 32 (FIVEAKIKE core)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470648" y="1371600"/>
            <a:ext cx="2212848" cy="13716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470648" y="1371600"/>
            <a:ext cx="2212848" cy="64008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80376" y="1499616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D55E00"/>
                </a:solidFill>
                <a:latin typeface="Liberation Sans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0376" y="202996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  <a:latin typeface="Liberation Sans"/>
              </a:rPr>
              <a:t>HIGH Clusters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0376" y="2304288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of 6 total (1 MODERATE, 3 LOW)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93224" y="1371600"/>
            <a:ext cx="2212848" cy="137160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793224" y="1371600"/>
            <a:ext cx="2212848" cy="64008"/>
          </a:xfrm>
          <a:prstGeom prst="rect">
            <a:avLst/>
          </a:prstGeom>
          <a:solidFill>
            <a:srgbClr val="D55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02952" y="1499616"/>
            <a:ext cx="19933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>
                <a:solidFill>
                  <a:srgbClr val="D55E00"/>
                </a:solidFill>
                <a:latin typeface="Liberation Sans"/>
              </a:rPr>
              <a:t>8.33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02952" y="2029968"/>
            <a:ext cx="199339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  <a:latin typeface="Liberation Sans"/>
              </a:rPr>
              <a:t>Foreign SB /100 aa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02952" y="2304288"/>
            <a:ext cx="19933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Above TTc (7.41) — top of panel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2971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A1A2E"/>
                </a:solidFill>
                <a:latin typeface="Liberation Sans"/>
              </a:rPr>
              <a:t>Key Findings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337560"/>
            <a:ext cx="113385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Liberation Sans"/>
              </a:rPr>
              <a:t>• Ligand: 7071-A08, a 132-aa dsRNA affinity chromatography ligand (proprietary, de-identified); lysine/glutamate-rich sequence consistent with a nucleic-acid-binding surface. Context: leached resin ligand, low-dose process-related impurity (non-HCP).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D55E00"/>
                </a:solidFill>
                <a:latin typeface="Liberation Sans"/>
              </a:rPr>
              <a:t>• Two HIGH-risk promiscuous epitope clusters: pos 29–42 (core FIVEAKIKE; 5 SB alleles — DRB1*08:01/*08:02/*11:01/*12:01/*13:02) and pos 83–104 (core ILHLPNLTE; 4 SB alleles — DRB1*04:02/*04:04/*04:05/*12:01).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D55E00"/>
                </a:solidFill>
                <a:latin typeface="Liberation Sans"/>
              </a:rPr>
              <a:t>• Per-ligand population coverage: SB+WB binder set reaches the panel ceiling (US 97.8% / EU 97.8%); SB-only set covers US 68.1% / EU 64.2% — roughly 2 in 3 patients carry an allele predicted to strongly present a ligand peptide.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1A1A2E"/>
                </a:solidFill>
                <a:latin typeface="Liberation Sans"/>
              </a:rPr>
              <a:t>• Specificity filters: 46/55 (84%) SB calls affinity-confirmed at IC50&lt;500 nM; 0/11 SB cores match the human proteome (fully foreign); CD4EpiScore independently flags the same regions.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C0000"/>
                </a:solidFill>
                <a:latin typeface="Liberation Sans"/>
              </a:rPr>
              <a:t>• Control benchmark: foreign (non-self) SB-core density 8.33/100 aa — the highest in the 7-molecule panel, above the strongest positive control TTc (7.41) and infliximab (3.52); all tolerated negatives score 0.00.</a:t>
            </a:r>
          </a:p>
          <a:p>
            <a:pPr algn="l">
              <a:spcAft>
                <a:spcPts val="400"/>
              </a:spcAft>
            </a:pPr>
            <a:r>
              <a:rPr sz="1250" b="1">
                <a:solidFill>
                  <a:srgbClr val="CC0000"/>
                </a:solidFill>
                <a:latin typeface="Liberation Sans"/>
              </a:rPr>
              <a:t>• Overall in silico risk call: HIGH — the strongest signal observed across both ligands screened with this workflow.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228600" cy="914400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279EE"/>
                </a:solidFill>
                <a:latin typeface="Liberation Sans"/>
              </a:rPr>
              <a:t>MODULE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Liberation Sans"/>
              </a:rPr>
              <a:t>Sequence QC &amp; Standardization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BBBCC"/>
                </a:solidFill>
                <a:latin typeface="Liberation Sans"/>
              </a:rPr>
              <a:t>Input review · format validation · de-identification check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E73"/>
                </a:solidFill>
                <a:latin typeface="Liberation Sans"/>
              </a:rPr>
              <a:t>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Sequence QC &amp; Standardization — All Checks 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79EE"/>
                </a:solidFill>
                <a:latin typeface="Liberation Sans"/>
              </a:rPr>
              <a:t>Ligand Identity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691640"/>
          <a:ext cx="5669279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5461"/>
                <a:gridCol w="3983818"/>
              </a:tblGrid>
              <a:tr h="2971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</a:rPr>
                        <a:t>Field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</a:rPr>
                        <a:t>Value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ID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7071-A08 (de-identified, proprietary)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Type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dsRNA affinity chromatography ligand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Function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dsRNA clearance / binding (process resin ligand)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Source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User-supplied sequence (no public DB ID)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Length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132 aa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Impurity context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Leached resin ligand, low-dose, process-related (non-HCP)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Composition note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K/E/R-rich (charged dsRNA-binding surface)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325880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79EE"/>
                </a:solidFill>
                <a:latin typeface="Liberation Sans"/>
              </a:rPr>
              <a:t>QC Checklist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92240" y="1691640"/>
          <a:ext cx="52120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194560"/>
              </a:tblGrid>
              <a:tr h="339634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</a:rPr>
                        <a:t>Check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</a:rPr>
                        <a:t>Result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Standard amino acids (20 canonical)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No gaps / spaces / illegal characters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No ambiguous codes (B/Z/X/U)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Length in 50–1000 aa window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PASS (132 aa)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339634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De-identified header (no DB accessions)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PASS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39636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15-mers generated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118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4343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79EE"/>
                </a:solidFill>
                <a:latin typeface="Liberation Sans"/>
              </a:rPr>
              <a:t>Input 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709160"/>
            <a:ext cx="11201400" cy="1737360"/>
          </a:xfrm>
          <a:prstGeom prst="rect">
            <a:avLst/>
          </a:prstGeom>
          <a:solidFill>
            <a:srgbClr val="F4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846320"/>
            <a:ext cx="108813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  <a:latin typeface="Liberation Sans"/>
              </a:rPr>
              <a:t>&gt;7071-A08_dsRNA_affinity_ligand_132aa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Liberation Sans"/>
              </a:rPr>
              <a:t>  1 ADYKTILQEITQKRWKERPEYRLISVEGPHHKKKFIVEAKIK 42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Liberation Sans"/>
              </a:rPr>
              <a:t> 43 EYRTLGEGKSKKEAEQRAAEELIKLLEEAAAVDAKFDKEQQA 84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Liberation Sans"/>
              </a:rPr>
              <a:t> 85 ARAEILHLPNLTEEQRNKFIQSLKDDPSQSANLLAEAKKLND 126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Liberation Sans"/>
              </a:rPr>
              <a:t>127 AQAPKC 132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Proprietary sequence — analyzed as provided; no public-database cross-reference performed.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228600" cy="914400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09E73"/>
                </a:solidFill>
                <a:latin typeface="Liberation Sans"/>
              </a:rPr>
              <a:t>MODULE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Liberation Sans"/>
              </a:rPr>
              <a:t>HLA-DR Panel &amp;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BBBCC"/>
                </a:solidFill>
                <a:latin typeface="Liberation Sans"/>
              </a:rPr>
              <a:t>Verified 23-allele panel · US 97.79% / EU 97.83% · meets the 95–98% target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E73"/>
                </a:solidFill>
                <a:latin typeface="Liberation Sans"/>
              </a:rPr>
              <a:t>MODULE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Verified 23-Allele HLA-DR Panel (Reused, Session-Verified)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0279EE"/>
                </a:solidFill>
                <a:latin typeface="Liberation Sans"/>
              </a:rPr>
              <a:t>Panel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Liberation Sans"/>
              </a:rPr>
              <a:t>• 23 alleles: 19x DRB1, 2x DRB3, 1x DRB4, 1x DRB5 — the panel verified earlier this session.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009E73"/>
                </a:solidFill>
                <a:latin typeface="Liberation Sans"/>
              </a:rPr>
              <a:t>• Coverage (IEDB population coverage tool): US 97.79% · EU 97.83% · World 94.15% — inside the 95–98% target band.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CC0000"/>
                </a:solidFill>
                <a:latin typeface="Liberation Sans"/>
              </a:rPr>
              <a:t>• The 15-allele IEDB class-II DR reference subset covers only 88.1% (US) / 85.8% (EU) and was rejected.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Liberation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279EE"/>
                </a:solidFill>
                <a:latin typeface="Liberation Sans"/>
              </a:rPr>
              <a:t>Method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Liberation Sans"/>
              </a:rPr>
              <a:t>• IEDB Population Coverage tool (Bui et al. 2006), class II, queried programmatically.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Liberation Sans"/>
              </a:rPr>
              <a:t>• Panel-level coverage = fraction of population carrying at least one panel allele.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Liberation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500" b="1">
                <a:solidFill>
                  <a:srgbClr val="0279EE"/>
                </a:solidFill>
                <a:latin typeface="Liberation Sans"/>
              </a:rPr>
              <a:t>Added vs IEDB reference subset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Liberation Sans"/>
              </a:rPr>
              <a:t>• DRB1*04:04, *13:01, *16:01, *14:01, *08:01, *04:02, *11:04, *10:01 — common US/EU specificities.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D55E00"/>
                </a:solidFill>
                <a:latin typeface="Liberation Sans"/>
              </a:rPr>
              <a:t>• Two of these additions (DRB1*04:02, *04:04) turn out to bind the 7071-A08 HIGH cluster C5 — panel breadth matters.</a:t>
            </a:r>
          </a:p>
        </p:txBody>
      </p:sp>
      <p:pic>
        <p:nvPicPr>
          <p:cNvPr id="6" name="Picture 5" descr="figure_1_panel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645920"/>
            <a:ext cx="5029200" cy="2926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20840" y="4572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Panel coverage vs the IEDB 15-allele reference subset; green band = 95–98% target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228600" cy="914400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279EE"/>
                </a:solidFill>
                <a:latin typeface="Liberation Sans"/>
              </a:rPr>
              <a:t>MODULE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Liberation Sans"/>
              </a:rPr>
              <a:t>HLA-DR Binding / Presentation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BBBCC"/>
                </a:solidFill>
                <a:latin typeface="Liberation Sans"/>
              </a:rPr>
              <a:t>NetMHCIIpan-4.3 EL · 15-mer scanning · %Rank classification · 2,714 predictions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Binding Prediction: Full-Sequence Scan (23-Allele Panel)</a:t>
            </a:r>
          </a:p>
        </p:txBody>
      </p:sp>
      <p:pic>
        <p:nvPicPr>
          <p:cNvPr id="5" name="Picture 4" descr="figure_2_el_sc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498079" cy="277253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0" y="1463040"/>
          <a:ext cx="3520439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3234"/>
                <a:gridCol w="570882"/>
                <a:gridCol w="856323"/>
              </a:tblGrid>
              <a:tr h="34747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Metric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Count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% of 118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Peptides with &gt;=1 SB allele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30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25.4%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Peptides with &gt;=1 WB allele (excl. SB)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30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25.4%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Peptides with any binding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60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50.8%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Non-binding peptides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58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49.2%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3474720"/>
            <a:ext cx="35661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Methodology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2E"/>
                </a:solidFill>
                <a:latin typeface="Liberation Sans"/>
              </a:rPr>
              <a:t>• NetMHCIIpan-4.3, EL %Rank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2E"/>
                </a:solidFill>
                <a:latin typeface="Liberation Sans"/>
              </a:rPr>
              <a:t>• 15-mer tiling, 118 peptides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2E"/>
                </a:solidFill>
                <a:latin typeface="Liberation Sans"/>
              </a:rPr>
              <a:t>• SB: %Rank&lt;1 · WB: %Rank 1–5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2E"/>
                </a:solidFill>
                <a:latin typeface="Liberation Sans"/>
              </a:rPr>
              <a:t>• 23-allele DR panel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2E"/>
                </a:solidFill>
                <a:latin typeface="Liberation Sans"/>
              </a:rPr>
              <a:t>• 2,714 total predictions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1A1A2E"/>
                </a:solidFill>
                <a:latin typeface="Liberation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1A1A2E"/>
                </a:solidFill>
                <a:latin typeface="Liberation Sans"/>
              </a:rPr>
              <a:t>55 SB / 184 WB / 2,475 NB peptide–allele pairs.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Binder load is high: half of all 15-mers (60/118) bind at least one panel allele. Median SB affinity 145 nM.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228600" cy="914400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279EE"/>
                </a:solidFill>
                <a:latin typeface="Liberation Sans"/>
              </a:rPr>
              <a:t>MODULE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Liberation Sans"/>
              </a:rPr>
              <a:t>Epitope Clusters &amp; Per-Ligand Coverage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BBBCC"/>
                </a:solidFill>
                <a:latin typeface="Liberation Sans"/>
              </a:rPr>
              <a:t>Core-based cluster consolidation · promiscuity tiers · predicted-epitope population coverage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Epitope Clusters &amp; Promiscuity (23-Allele Panel)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11247116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0097"/>
                <a:gridCol w="3213462"/>
                <a:gridCol w="1928077"/>
                <a:gridCol w="964038"/>
                <a:gridCol w="964038"/>
                <a:gridCol w="1767404"/>
              </a:tblGrid>
              <a:tr h="2743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</a:rPr>
                        <a:t>Cluster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</a:rPr>
                        <a:t>Peak peptide (start)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</a:rPr>
                        <a:t>Dominant core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</a:rPr>
                        <a:t>SB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</a:rPr>
                        <a:t>WB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Liberation Sans"/>
                        </a:rPr>
                        <a:t>Risk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C1 · pos 1–4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DYKTILQEITQKRWK (2)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ILQEITQKR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1/23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3/23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LOW (DRB5)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C2 · pos 16–22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RPEYRLISVEGPHHK (18)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YRLISVEGP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2/23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9/23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MODERATE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C3 · pos 29–42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KKKFIVEAKIKEYRT (32)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FIVEAKIKE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5/23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8/23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HIGH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C4 · pos 60–76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VDAKFDKEQQAARAE (74)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FDKEQQAAR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1/23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7/23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LOW (DRB5)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C5 · pos 83–104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RAEILHLPNLTEEQR (86)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ILHLPNLTE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4/23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6/23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HIGH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C6 · pos 112–116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QSANLLAEAKKLNDA (113)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LAEAKKLND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1/23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6/23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A1A2E"/>
                          </a:solidFill>
                          <a:latin typeface="Liberation Sans"/>
                        </a:rPr>
                        <a:t>LOW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611880"/>
            <a:ext cx="1133856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D55E00"/>
                </a:solidFill>
                <a:latin typeface="Liberation Sans"/>
              </a:rPr>
              <a:t>HIGH RISK — Cluster 3, pos 29–42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   Peak KKKFIVEAKIKEYRT; core FIVEAKIKE. SB alleles: DRB1*08:01, *08:02, *11:01, *12:01, *13:02 — a DR8/DR11/DR12/DR13 family pattern.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D55E00"/>
                </a:solidFill>
                <a:latin typeface="Liberation Sans"/>
              </a:rPr>
              <a:t>HIGH RISK — Cluster 5, pos 83–104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   Peak RAEILHLPNLTEEQR; core ILHLPNLTE. SB alleles: DRB1*04:02, *04:04, *04:05, *12:01 — DR4-supertype driven; two of these (*04:02, *04:04) are panel additions absent from the IEDB 15-allele reference subset.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E73"/>
                </a:solidFill>
                <a:latin typeface="Liberation Sans"/>
              </a:rPr>
              <a:t>MODERATE — Cluster 2, pos 16–22 (core YRLISVEGP; DRB1*04:01, *10:01).</a:t>
            </a:r>
          </a:p>
          <a:p>
            <a:pPr algn="l">
              <a:spcAft>
                <a:spcPts val="400"/>
              </a:spcAft>
            </a:pPr>
            <a:r>
              <a:rPr sz="1300" b="1">
                <a:solidFill>
                  <a:srgbClr val="0072B2"/>
                </a:solidFill>
                <a:latin typeface="Liberation Sans"/>
              </a:rPr>
              <a:t>LOW / RESTRICTED — C1, C4 (DRB5*01:01 mono-allelic) and C6 (DRB1*08:01 only): low population-level impact.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Liberation Sans"/>
              </a:rPr>
              <a:t>Promiscuity: peak peptide SB for &gt;=4 alleles = HIGH, 2–3 = MODERATE, 1 = LOW. Overlapping peptides sharing a 9-mer core are consolidated (gap &lt;=5 aa).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9E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09E73"/>
                </a:solidFill>
                <a:latin typeface="Liberation Sans"/>
              </a:rPr>
              <a:t>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Per-Ligand Epitope Population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57607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79EE"/>
                </a:solidFill>
                <a:latin typeface="Liberation Sans"/>
              </a:rPr>
              <a:t>What this metric answers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1A1A2E"/>
                </a:solidFill>
                <a:latin typeface="Liberation Sans"/>
              </a:rPr>
              <a:t>"What fraction of the US/EU patient population carries at least one HLA-DR allele predicted to present a peptide from this ligand?"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Computed with the IEDB population coverage tool using the actual predicted binder set.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Liberation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279EE"/>
                </a:solidFill>
                <a:latin typeface="Liberation Sans"/>
              </a:rPr>
              <a:t>Results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Liberation Sans"/>
              </a:rPr>
              <a:t>• SB+WB binder set (239 pairs): US 97.79% · EU 97.83% · World 94.15% — at the panel ceiling (every panel allele binds something).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D55E00"/>
                </a:solidFill>
                <a:latin typeface="Liberation Sans"/>
              </a:rPr>
              <a:t>• SB-only set (55 pairs): US 68.05% · EU 64.19% · World 61.79%.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Liberation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400" b="1">
                <a:solidFill>
                  <a:srgbClr val="0279EE"/>
                </a:solidFill>
                <a:latin typeface="Liberation Sans"/>
              </a:rPr>
              <a:t>Interpretation for a leached-ligand impurity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• ~2 in 3 US/EU patients carry an allele predicted to STRONGLY present a 7071-A08 peptide — a high population-level exposure potential, driven by the two HIGH clusters (DR8/11/12/13 family + DR4 supertype).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• Actual clinical risk is modulated by impurity dose (ng/mg range), exposure route, and product context; in silico presentation is not a confirmed T-cell response.</a:t>
            </a:r>
          </a:p>
        </p:txBody>
      </p:sp>
      <p:pic>
        <p:nvPicPr>
          <p:cNvPr id="6" name="Picture 5" descr="figure_4_population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554480"/>
            <a:ext cx="5394960" cy="313888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0" y="466344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US/EU coverage of the predicted SB+WB and SB-only binder sets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228600" cy="914400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0279EE"/>
                </a:solidFill>
                <a:latin typeface="Liberation Sans"/>
              </a:rPr>
              <a:t>MODULE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3600" b="1">
                <a:solidFill>
                  <a:srgbClr val="FFFFFF"/>
                </a:solidFill>
                <a:latin typeface="Liberation Sans"/>
              </a:rPr>
              <a:t>Specificity Filters, Controls &amp; Robustness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8862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BBBBCC"/>
                </a:solidFill>
                <a:latin typeface="Liberation Sans"/>
              </a:rPr>
              <a:t>EL+BA concordance · human self-similarity screen · CD4EpiScore · 6-molecule benchmark · threshold sensitivity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MODULE 5a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Specificity Filter 1: EL + BA Concordance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669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Liberation Sans"/>
              </a:rPr>
              <a:t>Question: are EL-predicted strong binders true high-affinity binders?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NetMHCIIpan-4.3 BA (IC50) run on the same 118x23 matrix; concordance tested at the classic IC50 &lt; 500 nM affinity standard.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Note: BA %Rank&lt;1 is too strict (ranks systematically inflated vs EL) — IC50&lt;500 nM is the appropriate criterion.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291840"/>
          <a:ext cx="5669279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5744"/>
                <a:gridCol w="881887"/>
                <a:gridCol w="2771648"/>
              </a:tblGrid>
              <a:tr h="32004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EL class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Pairs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Affinity-confirmed (IC50&lt;500 nM)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SB (EL %Rank&lt;1)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55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46/55 (84%)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WB (EL %Rank 1–5)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184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128/184 (70%)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NB (EL %Rank&gt;=5)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2,475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269/2,475 (11%)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132588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79EE"/>
                </a:solidFill>
                <a:latin typeface="Liberation Sans"/>
              </a:rPr>
              <a:t>Read-out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A1A2E"/>
                </a:solidFill>
                <a:latin typeface="Liberation Sans"/>
              </a:rPr>
              <a:t>• 46/55 (84%) EL strong-binder calls are affinity-confirmed — high precision; 9 SB calls are presentation-driven (EL-positive but weaker affinity).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• Cluster-level: C2 6/6, C5 15/15, C1 2/2, C6 3/3 fully confirmed; C3 (HIGH) 20/27; C4 (LOW, DRB5) 0/2 — the DRB5-restricted LOW cluster is not affinity-supported.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• 269 NB pairs bind with IC50&lt;500 nM but are NOT predicted to be presented (EL-negative) — EL adds real specificity beyond affinity alone.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Liberation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009E73"/>
                </a:solidFill>
                <a:latin typeface="Liberation Sans"/>
              </a:rPr>
              <a:t>Conclusion: both HIGH clusters are affinity-supported; the EL SB call set is highly specific.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MODULE 5b/5c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Specificity Filters 2 &amp; 3: Self-Similarity + CD4EpiScore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5669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Self-similarity screen (tolerance flag)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All 11 unique SB cores screened against 10.4M 9-mers from the reviewed human proteome (UniProt UP000005640, 20,416 proteins):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D55E00"/>
                </a:solidFill>
                <a:latin typeface="Liberation Sans"/>
              </a:rPr>
              <a:t>• 0/11 exact human 9-mer matches — all cores fully non-self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2E"/>
                </a:solidFill>
                <a:latin typeface="Liberation Sans"/>
              </a:rPr>
              <a:t>• 1-mismatch near-neighbors: only FIVEAKIKE has one (FIVEADIKE); all other cores have zero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Liberation Sans"/>
              </a:rPr>
              <a:t>• No tolerance down-weighting applied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79476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CD4EpiScore (independent immunogenicity model)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IEDB CD4EpiScore (combined method, 7-allele reference) on the full sequence: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• 25 scored peptides; per-cluster max combined scores 81.4–95.8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1A1A2E"/>
                </a:solidFill>
                <a:latin typeface="Liberation Sans"/>
              </a:rPr>
              <a:t>• Highest: C4 region (FDKEQQAAR, 95.75) — note CD4EpiScore uses a different 7-allele subset; our 23-allele panel calls C4 LOW (DRB5-only, not affinity-confirmed)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009E73"/>
                </a:solidFill>
                <a:latin typeface="Liberation Sans"/>
              </a:rPr>
              <a:t>• Both HIGH clusters score 93.3 (C3) and 81.4 (C5) — cross-method concordance on C3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92240" y="1463040"/>
          <a:ext cx="5212079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9883"/>
                <a:gridCol w="1110771"/>
                <a:gridCol w="854439"/>
                <a:gridCol w="1196215"/>
                <a:gridCol w="1110771"/>
              </a:tblGrid>
              <a:tr h="30044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Cluster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Core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BA confirmed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Human self-match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CD4 combined (max)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C1 LOW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ILQEITQKR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2/2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No (0 near)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84.1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C2 MOD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YRLISVEGP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6/6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No (0 near)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86.9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C3 HIGH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FIVEAKIKE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20/27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No (1 near)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93.3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C4 LOW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FDKEQQAAR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0/2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No (0 near)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95.8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C5 HIGH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ILHLPNLTE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15/15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No (0 near)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81.4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0045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C6 LOW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LAEAKKLND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3/3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No (0 near)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1A1A2E"/>
                          </a:solidFill>
                          <a:latin typeface="Liberation Sans"/>
                        </a:rPr>
                        <a:t>82.4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92240" y="379476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Liberation Sans"/>
              </a:rPr>
              <a:t>Per-cluster filter summary (full table: specificity_filters.csv)</a:t>
            </a:r>
          </a:p>
        </p:txBody>
      </p:sp>
      <p:pic>
        <p:nvPicPr>
          <p:cNvPr id="9" name="Picture 8" descr="figure_5_specificity_fil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4114800"/>
            <a:ext cx="5212080" cy="16459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MODULE 5d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Positive / Negative Control Benchmarking (6 Molecules)</a:t>
            </a:r>
          </a:p>
        </p:txBody>
      </p:sp>
      <p:pic>
        <p:nvPicPr>
          <p:cNvPr id="5" name="Picture 4" descr="figure_6_benchmark_contr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5760720" cy="261152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92240" y="1371600"/>
          <a:ext cx="5212078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8775"/>
                <a:gridCol w="407193"/>
                <a:gridCol w="1140142"/>
                <a:gridCol w="977265"/>
                <a:gridCol w="1058703"/>
              </a:tblGrid>
              <a:tr h="33147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Molecule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Exp.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Foreign SB /100 aa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Peak promiscuity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Liberation Sans"/>
                        </a:rPr>
                        <a:t>Gate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TTc (tetanus toxin C-frag.)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+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7.41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7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PASS — high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FVIII C2 domain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+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0.00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3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Self-matched*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Infliximab Fv (chimeric)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+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3.52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4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PASS — high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HSA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−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0.00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PASS — low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IgG1 Fc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−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0.00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PASS — low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Adalimumab Fv (human)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−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2.63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6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Intermediate†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7071-A08 ligand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test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8.33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1A1A2E"/>
                          </a:solidFill>
                          <a:latin typeface="Liberation Sans"/>
                        </a:rPr>
                        <a:t>ABOVE positive range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92240" y="4343400"/>
            <a:ext cx="5257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1">
                <a:solidFill>
                  <a:srgbClr val="1A1A2E"/>
                </a:solidFill>
                <a:latin typeface="Liberation Sans"/>
              </a:rPr>
              <a:t>Key insight: raw binding density does NOT separate positives from negatives — the self-similarity filter is what discriminates.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Liberation Sans"/>
              </a:rPr>
              <a:t>*FVIII C2 is human, 100% self-matched; its clinical immunogenicity reflects absent tolerance in hemophilia A.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Liberation Sans"/>
              </a:rPr>
              <a:t>†Adalimumab (40% self-matched) is intermediate — consistent with its known ~5–30% clinical ADA incidence.</a:t>
            </a:r>
          </a:p>
          <a:p>
            <a:pPr algn="l">
              <a:spcAft>
                <a:spcPts val="400"/>
              </a:spcAft>
            </a:pPr>
            <a:r>
              <a:rPr sz="1050" b="1">
                <a:solidFill>
                  <a:srgbClr val="CC0000"/>
                </a:solidFill>
                <a:latin typeface="Liberation Sans"/>
              </a:rPr>
              <a:t>7071-A08 (8.33/100 aa, 0% self) exceeds TTc (7.41) — the strongest positive control — and far exceeds infliximab (3.52).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MODULE 5e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Threshold Sensitivity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463040"/>
          <a:ext cx="603503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1570"/>
                <a:gridCol w="848677"/>
                <a:gridCol w="1320165"/>
                <a:gridCol w="754380"/>
                <a:gridCol w="660082"/>
                <a:gridCol w="1320165"/>
              </a:tblGrid>
              <a:tr h="36576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EL %Rank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SB pairs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Peptides w/ SB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Clusters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HIGH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Liberation Sans"/>
                        </a:rPr>
                        <a:t>Peak promiscuity</a:t>
                      </a:r>
                    </a:p>
                  </a:txBody>
                  <a:tcPr marT="13716" marB="13716" anchor="ctr">
                    <a:solidFill>
                      <a:srgbClr val="1A1A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0.5 (strict)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35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21 (17.8%)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6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1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4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1.0 (default)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54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29 (24.6%)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7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2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5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2.0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100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38 (32.2%)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8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4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8</a:t>
                      </a:r>
                    </a:p>
                  </a:txBody>
                  <a:tcPr marT="13716" marB="13716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5.0 (relaxed)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236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59 (50.0%)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6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6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2E"/>
                          </a:solidFill>
                          <a:latin typeface="Liberation Sans"/>
                        </a:rPr>
                        <a:t>13</a:t>
                      </a:r>
                    </a:p>
                  </a:txBody>
                  <a:tcPr marT="13716" marB="13716" anchor="ctr">
                    <a:solidFill>
                      <a:srgbClr val="F4F4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3749039"/>
            <a:ext cx="60350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Liberation Sans"/>
              </a:rPr>
              <a:t>Full data: threshold_sensitivity.csv</a:t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Liberation Sans"/>
              </a:rPr>
              <a:t>Note: sensitivity scan uses SB-start clustering; the primary cluster table uses core-based consolidation (6 clusters at the default threshold).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1417320"/>
            <a:ext cx="48463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A1A2E"/>
                </a:solidFill>
                <a:latin typeface="Liberation Sans"/>
              </a:rPr>
              <a:t>Question: does the risk call depend on the %Rank cutoff?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1A1A2E"/>
                </a:solidFill>
                <a:latin typeface="Liberation Sans"/>
              </a:rPr>
              <a:t>• At the strict %Rank&lt;0.5, one HIGH cluster persists (peak 4 alleles).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• Default %Rank&lt;1: 54 SB pairs, 2 HIGH clusters, peak promiscuity 5.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A1A2E"/>
                </a:solidFill>
                <a:latin typeface="Liberation Sans"/>
              </a:rPr>
              <a:t>• Relaxed %Rank&lt;2: 100 pairs, 4 HIGH clusters, peak 8 — breadth grows but the same regions dominate.</a:t>
            </a:r>
          </a:p>
          <a:p>
            <a:pPr algn="l">
              <a:spcAft>
                <a:spcPts val="400"/>
              </a:spcAft>
            </a:pPr>
            <a:r>
              <a:rPr sz="600" b="0">
                <a:solidFill>
                  <a:srgbClr val="1A1A2E"/>
                </a:solidFill>
                <a:latin typeface="Liberation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009E73"/>
                </a:solidFill>
                <a:latin typeface="Liberation Sans"/>
              </a:rPr>
              <a:t>Conclusion: the HIGH-risk call is robust to threshold choice; thresholds modulate breadth, not the qualitative classification.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279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0279EE"/>
                </a:solidFill>
                <a:latin typeface="Liberation Sans"/>
              </a:rPr>
              <a:t>CONCLUSIONS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66928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1A1A2E"/>
                </a:solidFill>
                <a:latin typeface="Liberation Sans"/>
              </a:rPr>
              <a:t>Risk Summary &amp; Recommended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3385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CC0000"/>
                </a:solidFill>
                <a:latin typeface="Liberation Sans"/>
              </a:rPr>
              <a:t>Overall in silico risk call: HIGH — the strongest signal screened with this workflow to date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Liberation Sans"/>
              </a:rPr>
              <a:t>• 7071-A08 carries two promiscuous HIGH-tier HLA-DR epitope clusters (pos 29–42 FIVEAKIKE, DR8/11/12/13 family; pos 83–104 ILHLPNLTE, DR4 supertype) plus one MODERATE cluster.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Liberation Sans"/>
              </a:rPr>
              <a:t>• Filter 1 (EL+BA): 46/55 (84%) SB calls are true high-affinity binders; both HIGH clusters affinity-supported.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Liberation Sans"/>
              </a:rPr>
              <a:t>• Filter 2 (self-similarity): 0/11 SB cores match the human proteome — fully foreign, no tolerance mitigation.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Liberation Sans"/>
              </a:rPr>
              <a:t>• Filter 3 (CD4EpiScore): independent model scores all cluster regions 81–96 (high foreignness).</a:t>
            </a:r>
          </a:p>
          <a:p>
            <a:pPr algn="l">
              <a:spcAft>
                <a:spcPts val="400"/>
              </a:spcAft>
            </a:pPr>
            <a:r>
              <a:rPr sz="1200" b="1">
                <a:solidFill>
                  <a:srgbClr val="CC0000"/>
                </a:solidFill>
                <a:latin typeface="Liberation Sans"/>
              </a:rPr>
              <a:t>• Benchmark: foreign-epitope density 8.33/100 aa EXCEEDS the strongest positive control (TTc 7.41); tolerated negatives (HSA, IgG1 Fc) score 0.00.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Liberation Sans"/>
              </a:rPr>
              <a:t>• Population exposure: ~68% (US) / ~64% (EU) of patients carry an allele predicted to strongly present a ligand peptide.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1A1A2E"/>
                </a:solidFill>
                <a:latin typeface="Liberation Sans"/>
              </a:rPr>
              <a:t>• Robust: HIGH call persists at the strict %Rank&lt;0.5 threshold.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977639"/>
            <a:ext cx="11338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0279EE"/>
                </a:solidFill>
                <a:latin typeface="Liberation Sans"/>
              </a:rPr>
              <a:t>Recommended next steps (out of scope for this RUO in silico screen)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Liberation Sans"/>
              </a:rPr>
              <a:t>• Priority: MAPPs (MHC-II–associated peptide proteomics) on a donor PBMC panel to confirm actual presentation of the FIVEAKIKE and ILHLPNLTE regions.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Liberation Sans"/>
              </a:rPr>
              <a:t>• DC–T cell proliferation / cytokine assays for the two HIGH cluster peptides.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Liberation Sans"/>
              </a:rPr>
              <a:t>• Optional in silico add-on: deimmunization variant design targeting the FIVEAKIKE / ILHLPNLTE cores (anchor-residue mutation scan, preserving dsRNA-binding function).</a:t>
            </a:r>
          </a:p>
          <a:p>
            <a:pPr algn="l">
              <a:spcAft>
                <a:spcPts val="400"/>
              </a:spcAft>
            </a:pPr>
            <a:r>
              <a:rPr sz="1150" b="0">
                <a:solidFill>
                  <a:srgbClr val="1A1A2E"/>
                </a:solidFill>
                <a:latin typeface="Liberation Sans"/>
              </a:rPr>
              <a:t>• For leached-impurity context: pair this T-cell epitope risk with impurity dose/clearance data for the overall risk assessment.</a:t>
            </a:r>
          </a:p>
          <a:p>
            <a:pPr algn="l">
              <a:spcAft>
                <a:spcPts val="400"/>
              </a:spcAft>
            </a:pPr>
            <a:r>
              <a:rPr sz="500" b="0">
                <a:solidFill>
                  <a:srgbClr val="1A1A2E"/>
                </a:solidFill>
                <a:latin typeface="Liberation San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950" b="0">
                <a:solidFill>
                  <a:srgbClr val="666666"/>
                </a:solidFill>
                <a:latin typeface="Liberation Sans"/>
              </a:rPr>
              <a:t>Tools: NetMHCIIpan-4.3 EL/BA (IEDB MHC-II API) · IEDB Population Coverage (Bui et al. 2006) · IEDB CD4EpiScore (Dhanda et al. 2018) · UniProt UP000005640 human proteome. RUO — Research Use Only; hypothesis-generating, not a clinical immunogenicity claim.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